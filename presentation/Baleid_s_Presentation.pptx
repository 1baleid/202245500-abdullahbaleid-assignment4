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5" d="100"/>
          <a:sy n="75" d="100"/>
        </p:scale>
        <p:origin x="474"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604785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Hello, I'm Abdullah Baleid, presenting my personal portfolio web application for SWE363.</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 built a professional portfolio using vanilla web technologies with GSAP animations and three external APIs. Let me show you.</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Now I'll switch to the live website and walk through each section. I'll demo the hero with typing effect and theme toggle, animated stat counters in About, the Journey modal, project filtering and sorting, live GitHub repos, the Fun Zone with movie and game search, contact form validation with confetti, the Konami code easter egg, and finally responsive mobile view.</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Built with vanilla web tech and GSAP. I used Claude for API integration and debugging, and Copilot for code completion. All AI output was reviewed and modified.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 solved API rate limits with a retry button, theme persistence with localStorage, and mobile responsiveness with breakpoints. Along the way I deepened my understanding of async/await patterns, state management, and cross-browser testing.</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I've built a complete portfolio ready to share. Future plans include a blog, a real email backend, and improved accessibility. Thank you!</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 Id="rId9" Type="http://schemas.openxmlformats.org/officeDocument/2006/relationships/image" Target="../media/image10.sv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E1A"/>
        </a:solidFill>
        <a:effectLst/>
      </p:bgPr>
    </p:bg>
    <p:spTree>
      <p:nvGrpSpPr>
        <p:cNvPr id="1" name=""/>
        <p:cNvGrpSpPr/>
        <p:nvPr/>
      </p:nvGrpSpPr>
      <p:grpSpPr>
        <a:xfrm>
          <a:off x="0" y="0"/>
          <a:ext cx="0" cy="0"/>
          <a:chOff x="0" y="0"/>
          <a:chExt cx="0" cy="0"/>
        </a:xfrm>
      </p:grpSpPr>
      <p:sp>
        <p:nvSpPr>
          <p:cNvPr id="2" name="Shape 0"/>
          <p:cNvSpPr/>
          <p:nvPr/>
        </p:nvSpPr>
        <p:spPr>
          <a:xfrm>
            <a:off x="457068" y="457068"/>
            <a:ext cx="696350" cy="10583"/>
          </a:xfrm>
          <a:prstGeom prst="rect">
            <a:avLst/>
          </a:prstGeom>
          <a:solidFill>
            <a:srgbClr val="EF4444"/>
          </a:solidFill>
          <a:ln/>
        </p:spPr>
        <p:txBody>
          <a:bodyPr/>
          <a:lstStyle/>
          <a:p>
            <a:endParaRPr lang="en-US"/>
          </a:p>
        </p:txBody>
      </p:sp>
      <p:sp>
        <p:nvSpPr>
          <p:cNvPr id="3" name="Shape 1"/>
          <p:cNvSpPr/>
          <p:nvPr/>
        </p:nvSpPr>
        <p:spPr>
          <a:xfrm>
            <a:off x="457068" y="457068"/>
            <a:ext cx="10583" cy="696350"/>
          </a:xfrm>
          <a:prstGeom prst="rect">
            <a:avLst/>
          </a:prstGeom>
          <a:solidFill>
            <a:srgbClr val="EF4444"/>
          </a:solidFill>
          <a:ln/>
        </p:spPr>
        <p:txBody>
          <a:bodyPr/>
          <a:lstStyle/>
          <a:p>
            <a:endParaRPr lang="en-US"/>
          </a:p>
        </p:txBody>
      </p:sp>
      <p:sp>
        <p:nvSpPr>
          <p:cNvPr id="4" name="Shape 2"/>
          <p:cNvSpPr/>
          <p:nvPr/>
        </p:nvSpPr>
        <p:spPr>
          <a:xfrm>
            <a:off x="17134583" y="9868033"/>
            <a:ext cx="696350" cy="10583"/>
          </a:xfrm>
          <a:prstGeom prst="rect">
            <a:avLst/>
          </a:prstGeom>
          <a:solidFill>
            <a:srgbClr val="EF4444"/>
          </a:solidFill>
          <a:ln/>
        </p:spPr>
        <p:txBody>
          <a:bodyPr/>
          <a:lstStyle/>
          <a:p>
            <a:endParaRPr lang="en-US"/>
          </a:p>
        </p:txBody>
      </p:sp>
      <p:sp>
        <p:nvSpPr>
          <p:cNvPr id="5" name="Shape 3"/>
          <p:cNvSpPr/>
          <p:nvPr/>
        </p:nvSpPr>
        <p:spPr>
          <a:xfrm>
            <a:off x="17820350" y="9133583"/>
            <a:ext cx="10583" cy="696350"/>
          </a:xfrm>
          <a:prstGeom prst="rect">
            <a:avLst/>
          </a:prstGeom>
          <a:solidFill>
            <a:srgbClr val="EF4444"/>
          </a:solidFill>
          <a:ln/>
        </p:spPr>
        <p:txBody>
          <a:bodyPr/>
          <a:lstStyle/>
          <a:p>
            <a:endParaRPr lang="en-US"/>
          </a:p>
        </p:txBody>
      </p:sp>
      <p:sp>
        <p:nvSpPr>
          <p:cNvPr id="6" name="Shape 4"/>
          <p:cNvSpPr/>
          <p:nvPr/>
        </p:nvSpPr>
        <p:spPr>
          <a:xfrm>
            <a:off x="1524000" y="1749061"/>
            <a:ext cx="935467" cy="935467"/>
          </a:xfrm>
          <a:prstGeom prst="roundRect">
            <a:avLst>
              <a:gd name="adj" fmla="val 20364"/>
            </a:avLst>
          </a:prstGeom>
          <a:solidFill>
            <a:srgbClr val="EF4444">
              <a:alpha val="12000"/>
            </a:srgbClr>
          </a:solidFill>
          <a:ln w="10583">
            <a:solidFill>
              <a:srgbClr val="EF4444"/>
            </a:solidFill>
            <a:prstDash val="solid"/>
          </a:ln>
          <a:effectLst>
            <a:outerShdw blurRad="381000" dist="50800" dir="16200000" algn="bl" rotWithShape="0">
              <a:srgbClr val="EF4444">
                <a:alpha val="40000"/>
              </a:srgbClr>
            </a:outerShdw>
          </a:effectLst>
        </p:spPr>
        <p:txBody>
          <a:bodyPr/>
          <a:lstStyle/>
          <a:p>
            <a:endParaRPr lang="en-US"/>
          </a:p>
        </p:txBody>
      </p:sp>
      <p:sp>
        <p:nvSpPr>
          <p:cNvPr id="7" name="Text 5"/>
          <p:cNvSpPr/>
          <p:nvPr/>
        </p:nvSpPr>
        <p:spPr>
          <a:xfrm>
            <a:off x="1496483" y="1759645"/>
            <a:ext cx="990501" cy="952401"/>
          </a:xfrm>
          <a:prstGeom prst="rect">
            <a:avLst/>
          </a:prstGeom>
          <a:noFill/>
          <a:ln/>
        </p:spPr>
        <p:txBody>
          <a:bodyPr wrap="square" lIns="25400" tIns="25400" rIns="25400" bIns="25400" rtlCol="0" anchor="ctr">
            <a:normAutofit/>
          </a:bodyPr>
          <a:lstStyle/>
          <a:p>
            <a:pPr marL="0" indent="0" algn="ctr">
              <a:buNone/>
            </a:pPr>
            <a:r>
              <a:rPr lang="en-US" sz="3150" b="1">
                <a:solidFill>
                  <a:srgbClr val="EF4444"/>
                </a:solidFill>
                <a:latin typeface="Arial" pitchFamily="34" charset="0"/>
                <a:ea typeface="Arial" pitchFamily="34" charset="-122"/>
                <a:cs typeface="Arial" pitchFamily="34" charset="-120"/>
              </a:rPr>
              <a:t>AB</a:t>
            </a:r>
            <a:endParaRPr lang="en-US" sz="3150"/>
          </a:p>
        </p:txBody>
      </p:sp>
      <p:sp>
        <p:nvSpPr>
          <p:cNvPr id="8" name="Text 6"/>
          <p:cNvSpPr/>
          <p:nvPr/>
        </p:nvSpPr>
        <p:spPr>
          <a:xfrm>
            <a:off x="1524000" y="3065529"/>
            <a:ext cx="4818169" cy="334433"/>
          </a:xfrm>
          <a:prstGeom prst="rect">
            <a:avLst/>
          </a:prstGeom>
          <a:noFill/>
          <a:ln/>
        </p:spPr>
        <p:txBody>
          <a:bodyPr wrap="square" lIns="25400" tIns="25400" rIns="25400" bIns="25400" rtlCol="0" anchor="ctr">
            <a:normAutofit/>
          </a:bodyPr>
          <a:lstStyle/>
          <a:p>
            <a:pPr marL="0" indent="0" algn="l">
              <a:buNone/>
            </a:pPr>
            <a:r>
              <a:rPr lang="en-US" sz="1800" kern="0" spc="324">
                <a:solidFill>
                  <a:srgbClr val="EF4444"/>
                </a:solidFill>
                <a:latin typeface="Arial" pitchFamily="34" charset="0"/>
                <a:ea typeface="Arial" pitchFamily="34" charset="-122"/>
                <a:cs typeface="Arial" pitchFamily="34" charset="-120"/>
              </a:rPr>
              <a:t>SWE363 · WEB ENGINEERING</a:t>
            </a:r>
            <a:endParaRPr lang="en-US" sz="1800"/>
          </a:p>
        </p:txBody>
      </p:sp>
      <p:sp>
        <p:nvSpPr>
          <p:cNvPr id="9" name="Text 7"/>
          <p:cNvSpPr/>
          <p:nvPr/>
        </p:nvSpPr>
        <p:spPr>
          <a:xfrm>
            <a:off x="1524000" y="3565012"/>
            <a:ext cx="8201685" cy="2836069"/>
          </a:xfrm>
          <a:prstGeom prst="rect">
            <a:avLst/>
          </a:prstGeom>
          <a:noFill/>
          <a:ln/>
        </p:spPr>
        <p:txBody>
          <a:bodyPr wrap="square" lIns="25400" tIns="25400" rIns="25400" bIns="25400" rtlCol="0" anchor="t">
            <a:normAutofit fontScale="92500"/>
          </a:bodyPr>
          <a:lstStyle/>
          <a:p>
            <a:pPr marL="0" indent="0" algn="l">
              <a:lnSpc>
                <a:spcPct val="102000"/>
              </a:lnSpc>
              <a:buNone/>
            </a:pPr>
            <a:r>
              <a:rPr lang="en-US" sz="7200" b="1" kern="0" spc="-216">
                <a:solidFill>
                  <a:schemeClr val="bg1">
                    <a:lumMod val="95000"/>
                  </a:schemeClr>
                </a:solidFill>
                <a:latin typeface="thmanyah serif display" pitchFamily="50" charset="-78"/>
                <a:ea typeface="Arial" pitchFamily="34" charset="-122"/>
                <a:cs typeface="thmanyah serif display" pitchFamily="50" charset="-78"/>
              </a:rPr>
              <a:t>Personal Portfolio Web App</a:t>
            </a:r>
            <a:endParaRPr lang="en-US" sz="7200">
              <a:solidFill>
                <a:schemeClr val="bg1">
                  <a:lumMod val="95000"/>
                </a:schemeClr>
              </a:solidFill>
              <a:latin typeface="thmanyah serif display" pitchFamily="50" charset="-78"/>
              <a:cs typeface="thmanyah serif display" pitchFamily="50" charset="-78"/>
            </a:endParaRPr>
          </a:p>
        </p:txBody>
      </p:sp>
      <p:sp>
        <p:nvSpPr>
          <p:cNvPr id="10" name="Text 8"/>
          <p:cNvSpPr/>
          <p:nvPr/>
        </p:nvSpPr>
        <p:spPr>
          <a:xfrm>
            <a:off x="1524000" y="6693132"/>
            <a:ext cx="8201685" cy="977040"/>
          </a:xfrm>
          <a:prstGeom prst="rect">
            <a:avLst/>
          </a:prstGeom>
          <a:noFill/>
          <a:ln/>
        </p:spPr>
        <p:txBody>
          <a:bodyPr wrap="square" lIns="25400" tIns="25400" rIns="25400" bIns="25400" rtlCol="0" anchor="t">
            <a:normAutofit fontScale="92500" lnSpcReduction="20000"/>
          </a:bodyPr>
          <a:lstStyle/>
          <a:p>
            <a:pPr marL="0" indent="0" algn="l">
              <a:lnSpc>
                <a:spcPct val="145000"/>
              </a:lnSpc>
              <a:buNone/>
            </a:pPr>
            <a:r>
              <a:rPr lang="en-US" sz="2550">
                <a:solidFill>
                  <a:srgbClr val="CBD5E1"/>
                </a:solidFill>
                <a:latin typeface="Arial" pitchFamily="34" charset="0"/>
                <a:ea typeface="Arial" pitchFamily="34" charset="-122"/>
                <a:cs typeface="Arial" pitchFamily="34" charset="-120"/>
              </a:rPr>
              <a:t>A modern, responsive portfolio built with vanilla web technologies, GSAP, and three live APIs.</a:t>
            </a:r>
            <a:endParaRPr lang="en-US" sz="2550"/>
          </a:p>
        </p:txBody>
      </p:sp>
      <p:sp>
        <p:nvSpPr>
          <p:cNvPr id="11" name="Shape 9"/>
          <p:cNvSpPr/>
          <p:nvPr/>
        </p:nvSpPr>
        <p:spPr>
          <a:xfrm>
            <a:off x="1524000" y="8013072"/>
            <a:ext cx="1197074" cy="524867"/>
          </a:xfrm>
          <a:prstGeom prst="roundRect">
            <a:avLst>
              <a:gd name="adj" fmla="val 14518"/>
            </a:avLst>
          </a:prstGeom>
          <a:solidFill>
            <a:srgbClr val="EF4444">
              <a:alpha val="12000"/>
            </a:srgbClr>
          </a:solidFill>
          <a:ln w="10583">
            <a:solidFill>
              <a:srgbClr val="EF4444">
                <a:alpha val="28000"/>
              </a:srgbClr>
            </a:solidFill>
            <a:prstDash val="solid"/>
          </a:ln>
        </p:spPr>
        <p:txBody>
          <a:bodyPr/>
          <a:lstStyle/>
          <a:p>
            <a:endParaRPr lang="en-US"/>
          </a:p>
        </p:txBody>
      </p:sp>
      <p:sp>
        <p:nvSpPr>
          <p:cNvPr id="12" name="Text 10"/>
          <p:cNvSpPr/>
          <p:nvPr/>
        </p:nvSpPr>
        <p:spPr>
          <a:xfrm>
            <a:off x="1725083" y="8137955"/>
            <a:ext cx="871108" cy="313201"/>
          </a:xfrm>
          <a:prstGeom prst="rect">
            <a:avLst/>
          </a:prstGeom>
          <a:noFill/>
          <a:ln/>
        </p:spPr>
        <p:txBody>
          <a:bodyPr wrap="square" lIns="25400" tIns="25400" rIns="25400" bIns="25400" rtlCol="0" anchor="ctr">
            <a:normAutofit lnSpcReduction="10000"/>
          </a:bodyPr>
          <a:lstStyle/>
          <a:p>
            <a:pPr marL="0" indent="0" algn="l">
              <a:buNone/>
            </a:pPr>
            <a:r>
              <a:rPr lang="en-US" sz="1800" kern="0" spc="72">
                <a:solidFill>
                  <a:srgbClr val="EF4444"/>
                </a:solidFill>
                <a:latin typeface="Arial" pitchFamily="34" charset="0"/>
                <a:ea typeface="Arial" pitchFamily="34" charset="-122"/>
                <a:cs typeface="Arial" pitchFamily="34" charset="-120"/>
              </a:rPr>
              <a:t>HTML5</a:t>
            </a:r>
            <a:endParaRPr lang="en-US" sz="1800"/>
          </a:p>
        </p:txBody>
      </p:sp>
      <p:sp>
        <p:nvSpPr>
          <p:cNvPr id="13" name="Shape 11"/>
          <p:cNvSpPr/>
          <p:nvPr/>
        </p:nvSpPr>
        <p:spPr>
          <a:xfrm>
            <a:off x="2854358" y="8013072"/>
            <a:ext cx="1035678" cy="524867"/>
          </a:xfrm>
          <a:prstGeom prst="roundRect">
            <a:avLst>
              <a:gd name="adj" fmla="val 14518"/>
            </a:avLst>
          </a:prstGeom>
          <a:solidFill>
            <a:srgbClr val="EF4444">
              <a:alpha val="12000"/>
            </a:srgbClr>
          </a:solidFill>
          <a:ln w="10583">
            <a:solidFill>
              <a:srgbClr val="EF4444">
                <a:alpha val="28000"/>
              </a:srgbClr>
            </a:solidFill>
            <a:prstDash val="solid"/>
          </a:ln>
        </p:spPr>
        <p:txBody>
          <a:bodyPr/>
          <a:lstStyle/>
          <a:p>
            <a:endParaRPr lang="en-US"/>
          </a:p>
        </p:txBody>
      </p:sp>
      <p:sp>
        <p:nvSpPr>
          <p:cNvPr id="14" name="Text 12"/>
          <p:cNvSpPr/>
          <p:nvPr/>
        </p:nvSpPr>
        <p:spPr>
          <a:xfrm>
            <a:off x="3055442" y="8137955"/>
            <a:ext cx="709712" cy="313201"/>
          </a:xfrm>
          <a:prstGeom prst="rect">
            <a:avLst/>
          </a:prstGeom>
          <a:noFill/>
          <a:ln/>
        </p:spPr>
        <p:txBody>
          <a:bodyPr wrap="square" lIns="25400" tIns="25400" rIns="25400" bIns="25400" rtlCol="0" anchor="ctr">
            <a:normAutofit lnSpcReduction="10000"/>
          </a:bodyPr>
          <a:lstStyle/>
          <a:p>
            <a:pPr marL="0" indent="0" algn="l">
              <a:buNone/>
            </a:pPr>
            <a:r>
              <a:rPr lang="en-US" sz="1800" kern="0" spc="72">
                <a:solidFill>
                  <a:srgbClr val="EF4444"/>
                </a:solidFill>
                <a:latin typeface="Arial" pitchFamily="34" charset="0"/>
                <a:ea typeface="Arial" pitchFamily="34" charset="-122"/>
                <a:cs typeface="Arial" pitchFamily="34" charset="-120"/>
              </a:rPr>
              <a:t>CSS3</a:t>
            </a:r>
            <a:endParaRPr lang="en-US" sz="1800"/>
          </a:p>
        </p:txBody>
      </p:sp>
      <p:sp>
        <p:nvSpPr>
          <p:cNvPr id="15" name="Shape 13"/>
          <p:cNvSpPr/>
          <p:nvPr/>
        </p:nvSpPr>
        <p:spPr>
          <a:xfrm>
            <a:off x="4023320" y="8013072"/>
            <a:ext cx="1560380" cy="524867"/>
          </a:xfrm>
          <a:prstGeom prst="roundRect">
            <a:avLst>
              <a:gd name="adj" fmla="val 14518"/>
            </a:avLst>
          </a:prstGeom>
          <a:solidFill>
            <a:srgbClr val="EF4444">
              <a:alpha val="12000"/>
            </a:srgbClr>
          </a:solidFill>
          <a:ln w="10583">
            <a:solidFill>
              <a:srgbClr val="EF4444">
                <a:alpha val="28000"/>
              </a:srgbClr>
            </a:solidFill>
            <a:prstDash val="solid"/>
          </a:ln>
        </p:spPr>
        <p:txBody>
          <a:bodyPr/>
          <a:lstStyle/>
          <a:p>
            <a:endParaRPr lang="en-US"/>
          </a:p>
        </p:txBody>
      </p:sp>
      <p:sp>
        <p:nvSpPr>
          <p:cNvPr id="16" name="Text 14"/>
          <p:cNvSpPr/>
          <p:nvPr/>
        </p:nvSpPr>
        <p:spPr>
          <a:xfrm>
            <a:off x="4224404" y="8137955"/>
            <a:ext cx="1234414" cy="313201"/>
          </a:xfrm>
          <a:prstGeom prst="rect">
            <a:avLst/>
          </a:prstGeom>
          <a:noFill/>
          <a:ln/>
        </p:spPr>
        <p:txBody>
          <a:bodyPr wrap="square" lIns="25400" tIns="25400" rIns="25400" bIns="25400" rtlCol="0" anchor="ctr">
            <a:normAutofit lnSpcReduction="10000"/>
          </a:bodyPr>
          <a:lstStyle/>
          <a:p>
            <a:pPr marL="0" indent="0" algn="l">
              <a:buNone/>
            </a:pPr>
            <a:r>
              <a:rPr lang="en-US" sz="1800" kern="0" spc="72">
                <a:solidFill>
                  <a:srgbClr val="EF4444"/>
                </a:solidFill>
                <a:latin typeface="Arial" pitchFamily="34" charset="0"/>
                <a:ea typeface="Arial" pitchFamily="34" charset="-122"/>
                <a:cs typeface="Arial" pitchFamily="34" charset="-120"/>
              </a:rPr>
              <a:t>JavaScript</a:t>
            </a:r>
            <a:endParaRPr lang="en-US" sz="1800"/>
          </a:p>
        </p:txBody>
      </p:sp>
      <p:sp>
        <p:nvSpPr>
          <p:cNvPr id="17" name="Shape 15"/>
          <p:cNvSpPr/>
          <p:nvPr/>
        </p:nvSpPr>
        <p:spPr>
          <a:xfrm>
            <a:off x="5716985" y="8013072"/>
            <a:ext cx="1073712" cy="524867"/>
          </a:xfrm>
          <a:prstGeom prst="roundRect">
            <a:avLst>
              <a:gd name="adj" fmla="val 14518"/>
            </a:avLst>
          </a:prstGeom>
          <a:solidFill>
            <a:srgbClr val="F87171">
              <a:alpha val="10000"/>
            </a:srgbClr>
          </a:solidFill>
          <a:ln w="10583">
            <a:solidFill>
              <a:srgbClr val="F87171">
                <a:alpha val="32000"/>
              </a:srgbClr>
            </a:solidFill>
            <a:prstDash val="solid"/>
          </a:ln>
        </p:spPr>
        <p:txBody>
          <a:bodyPr/>
          <a:lstStyle/>
          <a:p>
            <a:endParaRPr lang="en-US"/>
          </a:p>
        </p:txBody>
      </p:sp>
      <p:sp>
        <p:nvSpPr>
          <p:cNvPr id="18" name="Text 16"/>
          <p:cNvSpPr/>
          <p:nvPr/>
        </p:nvSpPr>
        <p:spPr>
          <a:xfrm>
            <a:off x="5918068" y="8137955"/>
            <a:ext cx="747746" cy="313201"/>
          </a:xfrm>
          <a:prstGeom prst="rect">
            <a:avLst/>
          </a:prstGeom>
          <a:noFill/>
          <a:ln/>
        </p:spPr>
        <p:txBody>
          <a:bodyPr wrap="square" lIns="25400" tIns="25400" rIns="25400" bIns="25400" rtlCol="0" anchor="ctr">
            <a:normAutofit lnSpcReduction="10000"/>
          </a:bodyPr>
          <a:lstStyle/>
          <a:p>
            <a:pPr marL="0" indent="0" algn="l">
              <a:buNone/>
            </a:pPr>
            <a:r>
              <a:rPr lang="en-US" sz="1800" kern="0" spc="72">
                <a:solidFill>
                  <a:srgbClr val="FCA5A5"/>
                </a:solidFill>
                <a:latin typeface="Arial" pitchFamily="34" charset="0"/>
                <a:ea typeface="Arial" pitchFamily="34" charset="-122"/>
                <a:cs typeface="Arial" pitchFamily="34" charset="-120"/>
              </a:rPr>
              <a:t>GSAP</a:t>
            </a:r>
            <a:endParaRPr lang="en-US" sz="1800"/>
          </a:p>
        </p:txBody>
      </p:sp>
      <p:sp>
        <p:nvSpPr>
          <p:cNvPr id="19" name="Shape 17"/>
          <p:cNvSpPr/>
          <p:nvPr/>
        </p:nvSpPr>
        <p:spPr>
          <a:xfrm>
            <a:off x="11599334" y="1789741"/>
            <a:ext cx="5164667" cy="5164667"/>
          </a:xfrm>
          <a:prstGeom prst="roundRect">
            <a:avLst>
              <a:gd name="adj" fmla="val 4426"/>
            </a:avLst>
          </a:prstGeom>
          <a:solidFill>
            <a:schemeClr val="bg1">
              <a:lumMod val="95000"/>
            </a:schemeClr>
          </a:solidFill>
          <a:ln w="10583">
            <a:solidFill>
              <a:schemeClr val="tx1"/>
            </a:solidFill>
            <a:prstDash val="dash"/>
          </a:ln>
        </p:spPr>
        <p:txBody>
          <a:bodyPr/>
          <a:lstStyle/>
          <a:p>
            <a:endParaRPr lang="en-US"/>
          </a:p>
        </p:txBody>
      </p:sp>
      <p:sp>
        <p:nvSpPr>
          <p:cNvPr id="24" name="Text 21"/>
          <p:cNvSpPr/>
          <p:nvPr/>
        </p:nvSpPr>
        <p:spPr>
          <a:xfrm>
            <a:off x="2216847" y="1792106"/>
            <a:ext cx="3612945" cy="503767"/>
          </a:xfrm>
          <a:prstGeom prst="rect">
            <a:avLst/>
          </a:prstGeom>
          <a:noFill/>
          <a:ln/>
        </p:spPr>
        <p:txBody>
          <a:bodyPr wrap="square" lIns="25400" tIns="25400" rIns="25400" bIns="25400" rtlCol="0" anchor="t">
            <a:normAutofit/>
          </a:bodyPr>
          <a:lstStyle/>
          <a:p>
            <a:pPr marL="0" indent="0" algn="r">
              <a:buNone/>
            </a:pPr>
            <a:r>
              <a:rPr lang="en-US" sz="2850" b="1">
                <a:solidFill>
                  <a:srgbClr val="E5E7EB"/>
                </a:solidFill>
                <a:latin typeface="thmanyah serif display" pitchFamily="50" charset="-78"/>
                <a:ea typeface="Arial" pitchFamily="34" charset="-122"/>
                <a:cs typeface="thmanyah serif display" pitchFamily="50" charset="-78"/>
              </a:rPr>
              <a:t>Abdullah Baleid</a:t>
            </a:r>
            <a:endParaRPr lang="en-US" sz="2850">
              <a:latin typeface="thmanyah serif display" pitchFamily="50" charset="-78"/>
              <a:cs typeface="thmanyah serif display" pitchFamily="50" charset="-78"/>
            </a:endParaRPr>
          </a:p>
        </p:txBody>
      </p:sp>
      <p:sp>
        <p:nvSpPr>
          <p:cNvPr id="25" name="Text 22"/>
          <p:cNvSpPr/>
          <p:nvPr/>
        </p:nvSpPr>
        <p:spPr>
          <a:xfrm>
            <a:off x="12491310" y="7686709"/>
            <a:ext cx="4272690" cy="524866"/>
          </a:xfrm>
          <a:prstGeom prst="rect">
            <a:avLst/>
          </a:prstGeom>
          <a:noFill/>
          <a:ln/>
        </p:spPr>
        <p:txBody>
          <a:bodyPr wrap="square" lIns="25400" tIns="25400" rIns="25400" bIns="25400" rtlCol="0" anchor="t">
            <a:normAutofit fontScale="92500" lnSpcReduction="10000"/>
          </a:bodyPr>
          <a:lstStyle/>
          <a:p>
            <a:pPr marL="0" indent="0" algn="r">
              <a:buNone/>
            </a:pPr>
            <a:r>
              <a:rPr lang="en-US" sz="3600" err="1">
                <a:solidFill>
                  <a:srgbClr val="94A3B8"/>
                </a:solidFill>
                <a:latin typeface="thmanyah serif display" pitchFamily="50" charset="-78"/>
                <a:ea typeface="Arial" pitchFamily="34" charset="-122"/>
                <a:cs typeface="thmanyah serif display" pitchFamily="50" charset="-78"/>
              </a:rPr>
              <a:t>عب</a:t>
            </a:r>
            <a:r>
              <a:rPr lang="ar-SA" sz="3600">
                <a:solidFill>
                  <a:srgbClr val="94A3B8"/>
                </a:solidFill>
                <a:latin typeface="thmanyah serif display" pitchFamily="50" charset="-78"/>
                <a:ea typeface="Arial" pitchFamily="34" charset="-122"/>
                <a:cs typeface="thmanyah serif display" pitchFamily="50" charset="-78"/>
              </a:rPr>
              <a:t>ــ</a:t>
            </a:r>
            <a:r>
              <a:rPr lang="en-US" sz="3600" err="1">
                <a:solidFill>
                  <a:srgbClr val="94A3B8"/>
                </a:solidFill>
                <a:latin typeface="thmanyah serif display" pitchFamily="50" charset="-78"/>
                <a:ea typeface="Arial" pitchFamily="34" charset="-122"/>
                <a:cs typeface="thmanyah serif display" pitchFamily="50" charset="-78"/>
              </a:rPr>
              <a:t>دالله</a:t>
            </a:r>
            <a:r>
              <a:rPr lang="en-US" sz="3600">
                <a:solidFill>
                  <a:srgbClr val="94A3B8"/>
                </a:solidFill>
                <a:latin typeface="thmanyah serif display" pitchFamily="50" charset="-78"/>
                <a:ea typeface="Arial" pitchFamily="34" charset="-122"/>
                <a:cs typeface="thmanyah serif display" pitchFamily="50" charset="-78"/>
              </a:rPr>
              <a:t> </a:t>
            </a:r>
            <a:r>
              <a:rPr lang="en-US" sz="3600" err="1">
                <a:solidFill>
                  <a:srgbClr val="94A3B8"/>
                </a:solidFill>
                <a:latin typeface="thmanyah serif display" pitchFamily="50" charset="-78"/>
                <a:ea typeface="Arial" pitchFamily="34" charset="-122"/>
                <a:cs typeface="thmanyah serif display" pitchFamily="50" charset="-78"/>
              </a:rPr>
              <a:t>بلعي</a:t>
            </a:r>
            <a:r>
              <a:rPr lang="ar-SA" sz="3600">
                <a:solidFill>
                  <a:srgbClr val="94A3B8"/>
                </a:solidFill>
                <a:latin typeface="thmanyah serif display" pitchFamily="50" charset="-78"/>
                <a:ea typeface="Arial" pitchFamily="34" charset="-122"/>
                <a:cs typeface="thmanyah serif display" pitchFamily="50" charset="-78"/>
              </a:rPr>
              <a:t>ــ</a:t>
            </a:r>
            <a:r>
              <a:rPr lang="en-US" sz="3600">
                <a:solidFill>
                  <a:srgbClr val="94A3B8"/>
                </a:solidFill>
                <a:latin typeface="thmanyah serif display" pitchFamily="50" charset="-78"/>
                <a:ea typeface="Arial" pitchFamily="34" charset="-122"/>
                <a:cs typeface="thmanyah serif display" pitchFamily="50" charset="-78"/>
              </a:rPr>
              <a:t>د</a:t>
            </a:r>
            <a:endParaRPr lang="en-US" sz="3600">
              <a:latin typeface="thmanyah serif display" pitchFamily="50" charset="-78"/>
              <a:cs typeface="thmanyah serif display" pitchFamily="50" charset="-78"/>
            </a:endParaRPr>
          </a:p>
        </p:txBody>
      </p:sp>
      <p:sp>
        <p:nvSpPr>
          <p:cNvPr id="26" name="Text 23"/>
          <p:cNvSpPr/>
          <p:nvPr/>
        </p:nvSpPr>
        <p:spPr>
          <a:xfrm>
            <a:off x="13151055" y="8231650"/>
            <a:ext cx="3612945" cy="313267"/>
          </a:xfrm>
          <a:prstGeom prst="rect">
            <a:avLst/>
          </a:prstGeom>
          <a:noFill/>
          <a:ln/>
        </p:spPr>
        <p:txBody>
          <a:bodyPr wrap="square" lIns="25400" tIns="25400" rIns="25400" bIns="25400" rtlCol="0" anchor="t">
            <a:normAutofit lnSpcReduction="10000"/>
          </a:bodyPr>
          <a:lstStyle/>
          <a:p>
            <a:pPr marL="0" indent="0" algn="r">
              <a:buNone/>
            </a:pPr>
            <a:r>
              <a:rPr lang="en-US" sz="1800" kern="0" spc="90">
                <a:solidFill>
                  <a:srgbClr val="EF4444"/>
                </a:solidFill>
                <a:latin typeface="Arial" pitchFamily="34" charset="0"/>
                <a:ea typeface="Arial" pitchFamily="34" charset="-122"/>
                <a:cs typeface="Arial" pitchFamily="34" charset="-120"/>
              </a:rPr>
              <a:t>KFUPM · Software Engineering</a:t>
            </a:r>
            <a:endParaRPr lang="en-US" sz="1800"/>
          </a:p>
        </p:txBody>
      </p:sp>
      <p:sp>
        <p:nvSpPr>
          <p:cNvPr id="27" name="Text 24"/>
          <p:cNvSpPr/>
          <p:nvPr/>
        </p:nvSpPr>
        <p:spPr>
          <a:xfrm>
            <a:off x="952500" y="9554766"/>
            <a:ext cx="6214668" cy="313267"/>
          </a:xfrm>
          <a:prstGeom prst="rect">
            <a:avLst/>
          </a:prstGeom>
          <a:noFill/>
          <a:ln/>
        </p:spPr>
        <p:txBody>
          <a:bodyPr wrap="square" lIns="25400" tIns="25400" rIns="25400" bIns="25400" rtlCol="0" anchor="t">
            <a:normAutofit lnSpcReduction="10000"/>
          </a:bodyPr>
          <a:lstStyle/>
          <a:p>
            <a:pPr marL="0" indent="0" algn="l">
              <a:buNone/>
            </a:pPr>
            <a:r>
              <a:rPr lang="en-US" sz="1800" kern="0" spc="144">
                <a:solidFill>
                  <a:srgbClr val="EF4444"/>
                </a:solidFill>
                <a:latin typeface="Arial" pitchFamily="34" charset="0"/>
                <a:ea typeface="Arial" pitchFamily="34" charset="-122"/>
                <a:cs typeface="Arial" pitchFamily="34" charset="-120"/>
              </a:rPr>
              <a:t>● </a:t>
            </a:r>
            <a:r>
              <a:rPr lang="en-US" sz="1800" kern="0" spc="144">
                <a:solidFill>
                  <a:srgbClr val="64748B"/>
                </a:solidFill>
                <a:latin typeface="Arial" pitchFamily="34" charset="0"/>
                <a:ea typeface="Arial" pitchFamily="34" charset="-122"/>
                <a:cs typeface="Arial" pitchFamily="34" charset="-120"/>
              </a:rPr>
              <a:t>ABDULLAH-BALEID-PORTFOLIO.VERCEL.APP</a:t>
            </a:r>
            <a:endParaRPr lang="en-US" sz="1800"/>
          </a:p>
        </p:txBody>
      </p:sp>
      <p:sp>
        <p:nvSpPr>
          <p:cNvPr id="28" name="Text 25"/>
          <p:cNvSpPr/>
          <p:nvPr/>
        </p:nvSpPr>
        <p:spPr>
          <a:xfrm>
            <a:off x="16683071" y="9398132"/>
            <a:ext cx="903023" cy="313267"/>
          </a:xfrm>
          <a:prstGeom prst="rect">
            <a:avLst/>
          </a:prstGeom>
          <a:noFill/>
          <a:ln/>
        </p:spPr>
        <p:txBody>
          <a:bodyPr wrap="square" lIns="25400" tIns="25400" rIns="25400" bIns="25400" rtlCol="0" anchor="t">
            <a:normAutofit lnSpcReduction="10000"/>
          </a:bodyPr>
          <a:lstStyle/>
          <a:p>
            <a:pPr marL="0" indent="0" algn="l">
              <a:buNone/>
            </a:pPr>
            <a:r>
              <a:rPr lang="en-US" sz="1800" kern="0" spc="144">
                <a:solidFill>
                  <a:srgbClr val="64748B"/>
                </a:solidFill>
                <a:latin typeface="Arial" pitchFamily="34" charset="0"/>
                <a:ea typeface="Arial" pitchFamily="34" charset="-122"/>
                <a:cs typeface="Arial" pitchFamily="34" charset="-120"/>
              </a:rPr>
              <a:t>01 / 06</a:t>
            </a:r>
            <a:endParaRPr lang="en-US" sz="1800"/>
          </a:p>
        </p:txBody>
      </p:sp>
      <p:pic>
        <p:nvPicPr>
          <p:cNvPr id="1030" name="Picture 6" descr="GitHub - greensock/GSAP: GSAP (GreenSock Animation Platform), a JavaScript  animation library for the modern web · GitHub">
            <a:extLst>
              <a:ext uri="{FF2B5EF4-FFF2-40B4-BE49-F238E27FC236}">
                <a16:creationId xmlns:a16="http://schemas.microsoft.com/office/drawing/2014/main" id="{54CDAA9A-3045-FA92-CF44-1EFB666DA98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23669" b="24348"/>
          <a:stretch>
            <a:fillRect/>
          </a:stretch>
        </p:blipFill>
        <p:spPr bwMode="auto">
          <a:xfrm>
            <a:off x="12728020" y="4896708"/>
            <a:ext cx="2907291" cy="1511300"/>
          </a:xfrm>
          <a:prstGeom prst="rect">
            <a:avLst/>
          </a:prstGeom>
          <a:noFill/>
          <a:extLst>
            <a:ext uri="{909E8E84-426E-40DD-AFC4-6F175D3DCCD1}">
              <a14:hiddenFill xmlns:a14="http://schemas.microsoft.com/office/drawing/2010/main">
                <a:solidFill>
                  <a:srgbClr val="FFFFFF"/>
                </a:solidFill>
              </a14:hiddenFill>
            </a:ext>
          </a:extLst>
        </p:spPr>
      </p:pic>
      <p:pic>
        <p:nvPicPr>
          <p:cNvPr id="32" name="Picture 31">
            <a:extLst>
              <a:ext uri="{FF2B5EF4-FFF2-40B4-BE49-F238E27FC236}">
                <a16:creationId xmlns:a16="http://schemas.microsoft.com/office/drawing/2014/main" id="{F07A66AF-F142-304F-0EF9-B72534F19372}"/>
              </a:ext>
            </a:extLst>
          </p:cNvPr>
          <p:cNvPicPr>
            <a:picLocks noChangeAspect="1"/>
          </p:cNvPicPr>
          <p:nvPr/>
        </p:nvPicPr>
        <p:blipFill>
          <a:blip r:embed="rId4"/>
          <a:stretch>
            <a:fillRect/>
          </a:stretch>
        </p:blipFill>
        <p:spPr>
          <a:xfrm>
            <a:off x="11984271" y="2165281"/>
            <a:ext cx="4394791" cy="246936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0E1A"/>
        </a:solidFill>
        <a:effectLst/>
      </p:bgPr>
    </p:bg>
    <p:spTree>
      <p:nvGrpSpPr>
        <p:cNvPr id="1" name=""/>
        <p:cNvGrpSpPr/>
        <p:nvPr/>
      </p:nvGrpSpPr>
      <p:grpSpPr>
        <a:xfrm>
          <a:off x="0" y="0"/>
          <a:ext cx="0" cy="0"/>
          <a:chOff x="0" y="0"/>
          <a:chExt cx="0" cy="0"/>
        </a:xfrm>
      </p:grpSpPr>
      <p:pic>
        <p:nvPicPr>
          <p:cNvPr id="31" name="Picture 30">
            <a:extLst>
              <a:ext uri="{FF2B5EF4-FFF2-40B4-BE49-F238E27FC236}">
                <a16:creationId xmlns:a16="http://schemas.microsoft.com/office/drawing/2014/main" id="{732E8946-1F1E-31DF-DEB0-343C4CFA4E33}"/>
              </a:ext>
            </a:extLst>
          </p:cNvPr>
          <p:cNvPicPr>
            <a:picLocks noChangeAspect="1"/>
          </p:cNvPicPr>
          <p:nvPr/>
        </p:nvPicPr>
        <p:blipFill>
          <a:blip r:embed="rId3"/>
          <a:stretch>
            <a:fillRect/>
          </a:stretch>
        </p:blipFill>
        <p:spPr>
          <a:xfrm>
            <a:off x="2950010" y="2055101"/>
            <a:ext cx="11227821" cy="5116846"/>
          </a:xfrm>
          <a:prstGeom prst="rect">
            <a:avLst/>
          </a:prstGeom>
        </p:spPr>
      </p:pic>
      <p:sp>
        <p:nvSpPr>
          <p:cNvPr id="2" name="Shape 0"/>
          <p:cNvSpPr/>
          <p:nvPr/>
        </p:nvSpPr>
        <p:spPr>
          <a:xfrm>
            <a:off x="457068" y="457068"/>
            <a:ext cx="696350" cy="10583"/>
          </a:xfrm>
          <a:prstGeom prst="rect">
            <a:avLst/>
          </a:prstGeom>
          <a:solidFill>
            <a:srgbClr val="EF4444"/>
          </a:solidFill>
          <a:ln/>
        </p:spPr>
        <p:txBody>
          <a:bodyPr/>
          <a:lstStyle/>
          <a:p>
            <a:endParaRPr lang="en-US"/>
          </a:p>
        </p:txBody>
      </p:sp>
      <p:sp>
        <p:nvSpPr>
          <p:cNvPr id="3" name="Shape 1"/>
          <p:cNvSpPr/>
          <p:nvPr/>
        </p:nvSpPr>
        <p:spPr>
          <a:xfrm>
            <a:off x="457068" y="457068"/>
            <a:ext cx="10583" cy="696350"/>
          </a:xfrm>
          <a:prstGeom prst="rect">
            <a:avLst/>
          </a:prstGeom>
          <a:solidFill>
            <a:srgbClr val="EF4444"/>
          </a:solidFill>
          <a:ln/>
        </p:spPr>
        <p:txBody>
          <a:bodyPr/>
          <a:lstStyle/>
          <a:p>
            <a:endParaRPr lang="en-US"/>
          </a:p>
        </p:txBody>
      </p:sp>
      <p:sp>
        <p:nvSpPr>
          <p:cNvPr id="4" name="Text 2"/>
          <p:cNvSpPr/>
          <p:nvPr/>
        </p:nvSpPr>
        <p:spPr>
          <a:xfrm>
            <a:off x="911043" y="636554"/>
            <a:ext cx="16874491" cy="334433"/>
          </a:xfrm>
          <a:prstGeom prst="rect">
            <a:avLst/>
          </a:prstGeom>
          <a:noFill/>
          <a:ln/>
        </p:spPr>
        <p:txBody>
          <a:bodyPr wrap="square" lIns="25400" tIns="25400" rIns="25400" bIns="25400" rtlCol="0" anchor="ctr">
            <a:normAutofit/>
          </a:bodyPr>
          <a:lstStyle/>
          <a:p>
            <a:pPr marL="0" indent="0" algn="l">
              <a:buNone/>
            </a:pPr>
            <a:r>
              <a:rPr lang="en-US" sz="1800" kern="0" spc="324">
                <a:solidFill>
                  <a:srgbClr val="EF4444"/>
                </a:solidFill>
                <a:latin typeface="Arial" pitchFamily="34" charset="0"/>
                <a:ea typeface="Arial" pitchFamily="34" charset="-122"/>
                <a:cs typeface="Arial" pitchFamily="34" charset="-120"/>
              </a:rPr>
              <a:t>01 / OVERVIEW</a:t>
            </a:r>
            <a:endParaRPr lang="en-US" sz="1800"/>
          </a:p>
        </p:txBody>
      </p:sp>
      <p:sp>
        <p:nvSpPr>
          <p:cNvPr id="5" name="Text 3"/>
          <p:cNvSpPr/>
          <p:nvPr/>
        </p:nvSpPr>
        <p:spPr>
          <a:xfrm>
            <a:off x="911042" y="981570"/>
            <a:ext cx="16874491" cy="708488"/>
          </a:xfrm>
          <a:prstGeom prst="rect">
            <a:avLst/>
          </a:prstGeom>
          <a:noFill/>
          <a:ln/>
        </p:spPr>
        <p:txBody>
          <a:bodyPr wrap="square" lIns="25400" tIns="25400" rIns="25400" bIns="25400" rtlCol="0" anchor="t">
            <a:normAutofit fontScale="92500" lnSpcReduction="20000"/>
          </a:bodyPr>
          <a:lstStyle/>
          <a:p>
            <a:pPr marL="0" indent="0" algn="l">
              <a:lnSpc>
                <a:spcPct val="110000"/>
              </a:lnSpc>
              <a:buNone/>
            </a:pPr>
            <a:r>
              <a:rPr lang="en-US" sz="4800" b="1" kern="0" spc="-96">
                <a:solidFill>
                  <a:srgbClr val="E5E7EB"/>
                </a:solidFill>
                <a:latin typeface="Arial" pitchFamily="34" charset="0"/>
                <a:ea typeface="Arial" pitchFamily="34" charset="-122"/>
                <a:cs typeface="Arial" pitchFamily="34" charset="-120"/>
              </a:rPr>
              <a:t>Project Overview</a:t>
            </a:r>
            <a:endParaRPr lang="en-US" sz="4800"/>
          </a:p>
        </p:txBody>
      </p:sp>
      <p:sp>
        <p:nvSpPr>
          <p:cNvPr id="6" name="Text 4"/>
          <p:cNvSpPr/>
          <p:nvPr/>
        </p:nvSpPr>
        <p:spPr>
          <a:xfrm>
            <a:off x="676972" y="1564119"/>
            <a:ext cx="17342629" cy="977040"/>
          </a:xfrm>
          <a:prstGeom prst="rect">
            <a:avLst/>
          </a:prstGeom>
          <a:noFill/>
          <a:ln/>
        </p:spPr>
        <p:txBody>
          <a:bodyPr wrap="square" lIns="25400" tIns="25400" rIns="25400" bIns="25400" rtlCol="0" anchor="t">
            <a:normAutofit fontScale="92500" lnSpcReduction="20000"/>
          </a:bodyPr>
          <a:lstStyle/>
          <a:p>
            <a:pPr marL="0" indent="0" algn="l">
              <a:lnSpc>
                <a:spcPct val="145000"/>
              </a:lnSpc>
              <a:buNone/>
            </a:pPr>
            <a:r>
              <a:rPr lang="en-US" sz="2550">
                <a:solidFill>
                  <a:srgbClr val="CBD5E1"/>
                </a:solidFill>
                <a:latin typeface="Arial" pitchFamily="34" charset="0"/>
                <a:ea typeface="Arial" pitchFamily="34" charset="-122"/>
                <a:cs typeface="Arial" pitchFamily="34" charset="-120"/>
              </a:rPr>
              <a:t>A complete personal portfolio that showcases experience, projects, and live data, designed for recruiters and built end-to-end by vibe coding techniques.</a:t>
            </a:r>
            <a:endParaRPr lang="en-US" sz="2550"/>
          </a:p>
        </p:txBody>
      </p:sp>
      <p:grpSp>
        <p:nvGrpSpPr>
          <p:cNvPr id="33" name="Group 32">
            <a:extLst>
              <a:ext uri="{FF2B5EF4-FFF2-40B4-BE49-F238E27FC236}">
                <a16:creationId xmlns:a16="http://schemas.microsoft.com/office/drawing/2014/main" id="{600A82C9-E622-AE2B-6A75-0E7D33B6B55F}"/>
              </a:ext>
            </a:extLst>
          </p:cNvPr>
          <p:cNvGrpSpPr/>
          <p:nvPr/>
        </p:nvGrpSpPr>
        <p:grpSpPr>
          <a:xfrm>
            <a:off x="10173552" y="7543612"/>
            <a:ext cx="8008557" cy="1806024"/>
            <a:chOff x="924983" y="6933406"/>
            <a:chExt cx="8532273" cy="2285240"/>
          </a:xfrm>
        </p:grpSpPr>
        <p:sp>
          <p:nvSpPr>
            <p:cNvPr id="15" name="Shape 13"/>
            <p:cNvSpPr/>
            <p:nvPr/>
          </p:nvSpPr>
          <p:spPr>
            <a:xfrm>
              <a:off x="952500" y="7099154"/>
              <a:ext cx="592667" cy="592666"/>
            </a:xfrm>
            <a:prstGeom prst="roundRect">
              <a:avLst>
                <a:gd name="adj" fmla="val 19286"/>
              </a:avLst>
            </a:prstGeom>
            <a:solidFill>
              <a:srgbClr val="EF4444">
                <a:alpha val="12000"/>
              </a:srgbClr>
            </a:solidFill>
            <a:ln w="10583">
              <a:solidFill>
                <a:srgbClr val="EF4444"/>
              </a:solidFill>
              <a:prstDash val="solid"/>
            </a:ln>
          </p:spPr>
          <p:txBody>
            <a:bodyPr/>
            <a:lstStyle/>
            <a:p>
              <a:endParaRPr lang="en-US"/>
            </a:p>
          </p:txBody>
        </p:sp>
        <p:sp>
          <p:nvSpPr>
            <p:cNvPr id="16" name="Text 14"/>
            <p:cNvSpPr/>
            <p:nvPr/>
          </p:nvSpPr>
          <p:spPr>
            <a:xfrm>
              <a:off x="924983" y="7075728"/>
              <a:ext cx="647700" cy="609601"/>
            </a:xfrm>
            <a:prstGeom prst="rect">
              <a:avLst/>
            </a:prstGeom>
            <a:noFill/>
            <a:ln/>
          </p:spPr>
          <p:txBody>
            <a:bodyPr wrap="square" lIns="25400" tIns="25400" rIns="25400" bIns="25400" rtlCol="0" anchor="ctr">
              <a:normAutofit/>
            </a:bodyPr>
            <a:lstStyle/>
            <a:p>
              <a:pPr marL="0" indent="0" algn="ctr">
                <a:buNone/>
              </a:pPr>
              <a:r>
                <a:rPr lang="en-US" sz="1800" b="1">
                  <a:solidFill>
                    <a:srgbClr val="EF4444"/>
                  </a:solidFill>
                  <a:latin typeface="Arial" pitchFamily="34" charset="0"/>
                  <a:ea typeface="Arial" pitchFamily="34" charset="-122"/>
                  <a:cs typeface="Arial" pitchFamily="34" charset="-120"/>
                </a:rPr>
                <a:t>03</a:t>
              </a:r>
              <a:endParaRPr lang="en-US" sz="1800"/>
            </a:p>
          </p:txBody>
        </p:sp>
        <p:sp>
          <p:nvSpPr>
            <p:cNvPr id="17" name="Text 15"/>
            <p:cNvSpPr/>
            <p:nvPr/>
          </p:nvSpPr>
          <p:spPr>
            <a:xfrm>
              <a:off x="1773701" y="6933406"/>
              <a:ext cx="7683555" cy="419100"/>
            </a:xfrm>
            <a:prstGeom prst="rect">
              <a:avLst/>
            </a:prstGeom>
            <a:noFill/>
            <a:ln/>
          </p:spPr>
          <p:txBody>
            <a:bodyPr wrap="square" lIns="25400" tIns="25400" rIns="25400" bIns="25400" rtlCol="0" anchor="t">
              <a:normAutofit fontScale="92500" lnSpcReduction="20000"/>
            </a:bodyPr>
            <a:lstStyle/>
            <a:p>
              <a:pPr marL="0" indent="0" algn="l">
                <a:buNone/>
              </a:pPr>
              <a:r>
                <a:rPr lang="en-US" sz="2400" b="1" kern="0" spc="-24">
                  <a:solidFill>
                    <a:srgbClr val="E5E7EB"/>
                  </a:solidFill>
                  <a:latin typeface="Arial" pitchFamily="34" charset="0"/>
                  <a:ea typeface="Arial" pitchFamily="34" charset="-122"/>
                  <a:cs typeface="Arial" pitchFamily="34" charset="-120"/>
                </a:rPr>
                <a:t>Three live API integrations</a:t>
              </a:r>
              <a:endParaRPr lang="en-US" sz="2400"/>
            </a:p>
          </p:txBody>
        </p:sp>
        <p:sp>
          <p:nvSpPr>
            <p:cNvPr id="18" name="Text 16"/>
            <p:cNvSpPr/>
            <p:nvPr/>
          </p:nvSpPr>
          <p:spPr>
            <a:xfrm>
              <a:off x="1773701" y="7371458"/>
              <a:ext cx="7370299" cy="723702"/>
            </a:xfrm>
            <a:prstGeom prst="rect">
              <a:avLst/>
            </a:prstGeom>
            <a:noFill/>
            <a:ln/>
          </p:spPr>
          <p:txBody>
            <a:bodyPr wrap="square" lIns="25400" tIns="25400" rIns="25400" bIns="25400" rtlCol="0" anchor="t">
              <a:normAutofit fontScale="77500" lnSpcReduction="20000"/>
            </a:bodyPr>
            <a:lstStyle/>
            <a:p>
              <a:pPr marL="0" indent="0" algn="l">
                <a:lnSpc>
                  <a:spcPct val="150000"/>
                </a:lnSpc>
                <a:buNone/>
              </a:pPr>
              <a:r>
                <a:rPr lang="en-US" sz="1800">
                  <a:solidFill>
                    <a:srgbClr val="94A3B8"/>
                  </a:solidFill>
                  <a:latin typeface="Arial" pitchFamily="34" charset="0"/>
                  <a:ea typeface="Arial" pitchFamily="34" charset="-122"/>
                  <a:cs typeface="Arial" pitchFamily="34" charset="-120"/>
                </a:rPr>
                <a:t>GitHub for repositories, OMDb for movies, and RAWG for games, all rendered live.</a:t>
              </a:r>
              <a:endParaRPr lang="en-US" sz="1800"/>
            </a:p>
          </p:txBody>
        </p:sp>
        <p:sp>
          <p:nvSpPr>
            <p:cNvPr id="19" name="Shape 17"/>
            <p:cNvSpPr/>
            <p:nvPr/>
          </p:nvSpPr>
          <p:spPr>
            <a:xfrm>
              <a:off x="952500" y="8323627"/>
              <a:ext cx="592667" cy="592667"/>
            </a:xfrm>
            <a:prstGeom prst="roundRect">
              <a:avLst>
                <a:gd name="adj" fmla="val 19286"/>
              </a:avLst>
            </a:prstGeom>
            <a:solidFill>
              <a:srgbClr val="EF4444">
                <a:alpha val="12000"/>
              </a:srgbClr>
            </a:solidFill>
            <a:ln w="10583">
              <a:solidFill>
                <a:srgbClr val="EF4444"/>
              </a:solidFill>
              <a:prstDash val="solid"/>
            </a:ln>
          </p:spPr>
          <p:txBody>
            <a:bodyPr/>
            <a:lstStyle/>
            <a:p>
              <a:endParaRPr lang="en-US"/>
            </a:p>
          </p:txBody>
        </p:sp>
        <p:sp>
          <p:nvSpPr>
            <p:cNvPr id="20" name="Text 18"/>
            <p:cNvSpPr/>
            <p:nvPr/>
          </p:nvSpPr>
          <p:spPr>
            <a:xfrm>
              <a:off x="924983" y="8334210"/>
              <a:ext cx="647700" cy="609600"/>
            </a:xfrm>
            <a:prstGeom prst="rect">
              <a:avLst/>
            </a:prstGeom>
            <a:noFill/>
            <a:ln/>
          </p:spPr>
          <p:txBody>
            <a:bodyPr wrap="square" lIns="25400" tIns="25400" rIns="25400" bIns="25400" rtlCol="0" anchor="ctr">
              <a:normAutofit/>
            </a:bodyPr>
            <a:lstStyle/>
            <a:p>
              <a:pPr marL="0" indent="0" algn="ctr">
                <a:buNone/>
              </a:pPr>
              <a:r>
                <a:rPr lang="en-US" sz="1800" b="1">
                  <a:solidFill>
                    <a:srgbClr val="EF4444"/>
                  </a:solidFill>
                  <a:latin typeface="Arial" pitchFamily="34" charset="0"/>
                  <a:ea typeface="Arial" pitchFamily="34" charset="-122"/>
                  <a:cs typeface="Arial" pitchFamily="34" charset="-120"/>
                </a:rPr>
                <a:t>04</a:t>
              </a:r>
              <a:endParaRPr lang="en-US" sz="1800"/>
            </a:p>
          </p:txBody>
        </p:sp>
        <p:sp>
          <p:nvSpPr>
            <p:cNvPr id="21" name="Text 19"/>
            <p:cNvSpPr/>
            <p:nvPr/>
          </p:nvSpPr>
          <p:spPr>
            <a:xfrm>
              <a:off x="1773701" y="8399694"/>
              <a:ext cx="7417336" cy="419100"/>
            </a:xfrm>
            <a:prstGeom prst="rect">
              <a:avLst/>
            </a:prstGeom>
            <a:noFill/>
            <a:ln/>
          </p:spPr>
          <p:txBody>
            <a:bodyPr wrap="square" lIns="25400" tIns="25400" rIns="25400" bIns="25400" rtlCol="0" anchor="t">
              <a:normAutofit fontScale="92500" lnSpcReduction="20000"/>
            </a:bodyPr>
            <a:lstStyle/>
            <a:p>
              <a:pPr marL="0" indent="0" algn="l">
                <a:buNone/>
              </a:pPr>
              <a:r>
                <a:rPr lang="en-US" sz="2400" b="1" kern="0" spc="-24">
                  <a:solidFill>
                    <a:srgbClr val="E5E7EB"/>
                  </a:solidFill>
                  <a:latin typeface="Arial" pitchFamily="34" charset="0"/>
                  <a:ea typeface="Arial" pitchFamily="34" charset="-122"/>
                  <a:cs typeface="Arial" pitchFamily="34" charset="-120"/>
                </a:rPr>
                <a:t>Innovation features</a:t>
              </a:r>
              <a:endParaRPr lang="en-US" sz="2400"/>
            </a:p>
          </p:txBody>
        </p:sp>
        <p:sp>
          <p:nvSpPr>
            <p:cNvPr id="22" name="Text 20"/>
            <p:cNvSpPr/>
            <p:nvPr/>
          </p:nvSpPr>
          <p:spPr>
            <a:xfrm>
              <a:off x="1773701" y="8837745"/>
              <a:ext cx="7417336" cy="380901"/>
            </a:xfrm>
            <a:prstGeom prst="rect">
              <a:avLst/>
            </a:prstGeom>
            <a:noFill/>
            <a:ln/>
          </p:spPr>
          <p:txBody>
            <a:bodyPr wrap="square" lIns="25400" tIns="25400" rIns="25400" bIns="25400" rtlCol="0" anchor="t">
              <a:normAutofit fontScale="70000" lnSpcReduction="20000"/>
            </a:bodyPr>
            <a:lstStyle/>
            <a:p>
              <a:pPr marL="0" indent="0" algn="l">
                <a:lnSpc>
                  <a:spcPct val="150000"/>
                </a:lnSpc>
                <a:buNone/>
              </a:pPr>
              <a:r>
                <a:rPr lang="en-US" sz="1800">
                  <a:solidFill>
                    <a:srgbClr val="94A3B8"/>
                  </a:solidFill>
                  <a:latin typeface="Arial" pitchFamily="34" charset="0"/>
                  <a:ea typeface="Arial" pitchFamily="34" charset="-122"/>
                  <a:cs typeface="Arial" pitchFamily="34" charset="-120"/>
                </a:rPr>
                <a:t>Particle cursor, confetti on form submit, and a Konami-code easter egg.</a:t>
              </a:r>
              <a:endParaRPr lang="en-US" sz="1800"/>
            </a:p>
          </p:txBody>
        </p:sp>
      </p:grpSp>
      <p:sp>
        <p:nvSpPr>
          <p:cNvPr id="28" name="Text 25"/>
          <p:cNvSpPr/>
          <p:nvPr/>
        </p:nvSpPr>
        <p:spPr>
          <a:xfrm>
            <a:off x="952500" y="9554766"/>
            <a:ext cx="1851720" cy="313267"/>
          </a:xfrm>
          <a:prstGeom prst="rect">
            <a:avLst/>
          </a:prstGeom>
          <a:noFill/>
          <a:ln/>
        </p:spPr>
        <p:txBody>
          <a:bodyPr wrap="square" lIns="25400" tIns="25400" rIns="25400" bIns="25400" rtlCol="0" anchor="t">
            <a:normAutofit lnSpcReduction="10000"/>
          </a:bodyPr>
          <a:lstStyle/>
          <a:p>
            <a:pPr marL="0" indent="0" algn="l">
              <a:buNone/>
            </a:pPr>
            <a:r>
              <a:rPr lang="en-US" sz="1800" kern="0" spc="144">
                <a:solidFill>
                  <a:srgbClr val="EF4444"/>
                </a:solidFill>
                <a:latin typeface="Arial" pitchFamily="34" charset="0"/>
                <a:ea typeface="Arial" pitchFamily="34" charset="-122"/>
                <a:cs typeface="Arial" pitchFamily="34" charset="-120"/>
              </a:rPr>
              <a:t>● </a:t>
            </a:r>
            <a:r>
              <a:rPr lang="en-US" sz="1800" kern="0" spc="144">
                <a:solidFill>
                  <a:srgbClr val="64748B"/>
                </a:solidFill>
                <a:latin typeface="Arial" pitchFamily="34" charset="0"/>
                <a:ea typeface="Arial" pitchFamily="34" charset="-122"/>
                <a:cs typeface="Arial" pitchFamily="34" charset="-120"/>
              </a:rPr>
              <a:t>OVERVIEW</a:t>
            </a:r>
            <a:endParaRPr lang="en-US" sz="1800"/>
          </a:p>
        </p:txBody>
      </p:sp>
      <p:sp>
        <p:nvSpPr>
          <p:cNvPr id="29" name="Text 26"/>
          <p:cNvSpPr/>
          <p:nvPr/>
        </p:nvSpPr>
        <p:spPr>
          <a:xfrm>
            <a:off x="16508678" y="9554766"/>
            <a:ext cx="903023" cy="313267"/>
          </a:xfrm>
          <a:prstGeom prst="rect">
            <a:avLst/>
          </a:prstGeom>
          <a:noFill/>
          <a:ln/>
        </p:spPr>
        <p:txBody>
          <a:bodyPr wrap="square" lIns="25400" tIns="25400" rIns="25400" bIns="25400" rtlCol="0" anchor="t">
            <a:normAutofit lnSpcReduction="10000"/>
          </a:bodyPr>
          <a:lstStyle/>
          <a:p>
            <a:pPr marL="0" indent="0" algn="l">
              <a:buNone/>
            </a:pPr>
            <a:r>
              <a:rPr lang="en-US" sz="1800" kern="0" spc="144">
                <a:solidFill>
                  <a:srgbClr val="64748B"/>
                </a:solidFill>
                <a:latin typeface="Arial" pitchFamily="34" charset="0"/>
                <a:ea typeface="Arial" pitchFamily="34" charset="-122"/>
                <a:cs typeface="Arial" pitchFamily="34" charset="-120"/>
              </a:rPr>
              <a:t>02 / 06</a:t>
            </a:r>
            <a:endParaRPr lang="en-US" sz="1800"/>
          </a:p>
        </p:txBody>
      </p:sp>
      <p:grpSp>
        <p:nvGrpSpPr>
          <p:cNvPr id="34" name="Group 33">
            <a:extLst>
              <a:ext uri="{FF2B5EF4-FFF2-40B4-BE49-F238E27FC236}">
                <a16:creationId xmlns:a16="http://schemas.microsoft.com/office/drawing/2014/main" id="{246DC6AD-B99E-921D-1B4B-49BE323F167E}"/>
              </a:ext>
            </a:extLst>
          </p:cNvPr>
          <p:cNvGrpSpPr/>
          <p:nvPr/>
        </p:nvGrpSpPr>
        <p:grpSpPr>
          <a:xfrm>
            <a:off x="905264" y="7481258"/>
            <a:ext cx="8668956" cy="2237925"/>
            <a:chOff x="924983" y="4000831"/>
            <a:chExt cx="8532273" cy="2628041"/>
          </a:xfrm>
        </p:grpSpPr>
        <p:sp>
          <p:nvSpPr>
            <p:cNvPr id="35" name="Shape 5"/>
            <p:cNvSpPr/>
            <p:nvPr/>
          </p:nvSpPr>
          <p:spPr>
            <a:xfrm>
              <a:off x="952499" y="4019197"/>
              <a:ext cx="592667" cy="592667"/>
            </a:xfrm>
            <a:prstGeom prst="roundRect">
              <a:avLst>
                <a:gd name="adj" fmla="val 19286"/>
              </a:avLst>
            </a:prstGeom>
            <a:solidFill>
              <a:srgbClr val="EF4444">
                <a:alpha val="12000"/>
              </a:srgbClr>
            </a:solidFill>
            <a:ln w="10583">
              <a:solidFill>
                <a:srgbClr val="EF4444"/>
              </a:solidFill>
              <a:prstDash val="solid"/>
            </a:ln>
          </p:spPr>
          <p:txBody>
            <a:bodyPr/>
            <a:lstStyle/>
            <a:p>
              <a:endParaRPr lang="en-US"/>
            </a:p>
          </p:txBody>
        </p:sp>
        <p:sp>
          <p:nvSpPr>
            <p:cNvPr id="36" name="Text 6"/>
            <p:cNvSpPr/>
            <p:nvPr/>
          </p:nvSpPr>
          <p:spPr>
            <a:xfrm>
              <a:off x="924983" y="4034410"/>
              <a:ext cx="647700" cy="609600"/>
            </a:xfrm>
            <a:prstGeom prst="rect">
              <a:avLst/>
            </a:prstGeom>
            <a:noFill/>
            <a:ln/>
          </p:spPr>
          <p:txBody>
            <a:bodyPr wrap="square" lIns="25400" tIns="25400" rIns="25400" bIns="25400" rtlCol="0" anchor="ctr">
              <a:normAutofit/>
            </a:bodyPr>
            <a:lstStyle/>
            <a:p>
              <a:pPr marL="0" indent="0" algn="ctr">
                <a:buNone/>
              </a:pPr>
              <a:r>
                <a:rPr lang="en-US" sz="1800" b="1">
                  <a:solidFill>
                    <a:srgbClr val="EF4444"/>
                  </a:solidFill>
                  <a:latin typeface="Arial" pitchFamily="34" charset="0"/>
                  <a:ea typeface="Arial" pitchFamily="34" charset="-122"/>
                  <a:cs typeface="Arial" pitchFamily="34" charset="-120"/>
                </a:rPr>
                <a:t>01</a:t>
              </a:r>
              <a:endParaRPr lang="en-US" sz="1800"/>
            </a:p>
          </p:txBody>
        </p:sp>
        <p:sp>
          <p:nvSpPr>
            <p:cNvPr id="37" name="Text 7"/>
            <p:cNvSpPr/>
            <p:nvPr/>
          </p:nvSpPr>
          <p:spPr>
            <a:xfrm>
              <a:off x="1773701" y="4000831"/>
              <a:ext cx="7683555" cy="419100"/>
            </a:xfrm>
            <a:prstGeom prst="rect">
              <a:avLst/>
            </a:prstGeom>
            <a:noFill/>
            <a:ln/>
          </p:spPr>
          <p:txBody>
            <a:bodyPr wrap="square" lIns="25400" tIns="25400" rIns="25400" bIns="25400" rtlCol="0" anchor="t">
              <a:normAutofit fontScale="92500" lnSpcReduction="10000"/>
            </a:bodyPr>
            <a:lstStyle/>
            <a:p>
              <a:pPr marL="0" indent="0" algn="l">
                <a:buNone/>
              </a:pPr>
              <a:r>
                <a:rPr lang="en-US" sz="2400" b="1" kern="0" spc="-24">
                  <a:solidFill>
                    <a:srgbClr val="E5E7EB"/>
                  </a:solidFill>
                  <a:latin typeface="Arial" pitchFamily="34" charset="0"/>
                  <a:ea typeface="Arial" pitchFamily="34" charset="-122"/>
                  <a:cs typeface="Arial" pitchFamily="34" charset="-120"/>
                </a:rPr>
                <a:t>Modern, responsive design</a:t>
              </a:r>
              <a:endParaRPr lang="en-US" sz="2400"/>
            </a:p>
          </p:txBody>
        </p:sp>
        <p:sp>
          <p:nvSpPr>
            <p:cNvPr id="38" name="Text 8"/>
            <p:cNvSpPr/>
            <p:nvPr/>
          </p:nvSpPr>
          <p:spPr>
            <a:xfrm>
              <a:off x="1773701" y="4438882"/>
              <a:ext cx="7683555" cy="723702"/>
            </a:xfrm>
            <a:prstGeom prst="rect">
              <a:avLst/>
            </a:prstGeom>
            <a:noFill/>
            <a:ln/>
          </p:spPr>
          <p:txBody>
            <a:bodyPr wrap="square" lIns="25400" tIns="25400" rIns="25400" bIns="25400" rtlCol="0" anchor="t">
              <a:normAutofit fontScale="85000" lnSpcReduction="10000"/>
            </a:bodyPr>
            <a:lstStyle/>
            <a:p>
              <a:pPr marL="0" indent="0" algn="l">
                <a:lnSpc>
                  <a:spcPct val="150000"/>
                </a:lnSpc>
                <a:buNone/>
              </a:pPr>
              <a:r>
                <a:rPr lang="en-US" sz="1800">
                  <a:solidFill>
                    <a:srgbClr val="94A3B8"/>
                  </a:solidFill>
                  <a:latin typeface="Arial" pitchFamily="34" charset="0"/>
                  <a:ea typeface="Arial" pitchFamily="34" charset="-122"/>
                  <a:cs typeface="Arial" pitchFamily="34" charset="-120"/>
                </a:rPr>
                <a:t>Mobile-first layout with smooth section transitions and a persistent dark/light theme toggle.</a:t>
              </a:r>
              <a:endParaRPr lang="en-US" sz="1800"/>
            </a:p>
          </p:txBody>
        </p:sp>
        <p:sp>
          <p:nvSpPr>
            <p:cNvPr id="39" name="Shape 9"/>
            <p:cNvSpPr/>
            <p:nvPr/>
          </p:nvSpPr>
          <p:spPr>
            <a:xfrm>
              <a:off x="952500" y="5391051"/>
              <a:ext cx="592667" cy="592667"/>
            </a:xfrm>
            <a:prstGeom prst="roundRect">
              <a:avLst>
                <a:gd name="adj" fmla="val 19286"/>
              </a:avLst>
            </a:prstGeom>
            <a:solidFill>
              <a:srgbClr val="EF4444">
                <a:alpha val="12000"/>
              </a:srgbClr>
            </a:solidFill>
            <a:ln w="10583">
              <a:solidFill>
                <a:srgbClr val="EF4444"/>
              </a:solidFill>
              <a:prstDash val="solid"/>
            </a:ln>
          </p:spPr>
          <p:txBody>
            <a:bodyPr/>
            <a:lstStyle/>
            <a:p>
              <a:endParaRPr lang="en-US"/>
            </a:p>
          </p:txBody>
        </p:sp>
        <p:sp>
          <p:nvSpPr>
            <p:cNvPr id="40" name="Text 10"/>
            <p:cNvSpPr/>
            <p:nvPr/>
          </p:nvSpPr>
          <p:spPr>
            <a:xfrm>
              <a:off x="924983" y="5401634"/>
              <a:ext cx="647700" cy="609600"/>
            </a:xfrm>
            <a:prstGeom prst="rect">
              <a:avLst/>
            </a:prstGeom>
            <a:noFill/>
            <a:ln/>
          </p:spPr>
          <p:txBody>
            <a:bodyPr wrap="square" lIns="25400" tIns="25400" rIns="25400" bIns="25400" rtlCol="0" anchor="ctr">
              <a:normAutofit/>
            </a:bodyPr>
            <a:lstStyle/>
            <a:p>
              <a:pPr marL="0" indent="0" algn="ctr">
                <a:buNone/>
              </a:pPr>
              <a:r>
                <a:rPr lang="en-US" sz="1800" b="1">
                  <a:solidFill>
                    <a:srgbClr val="EF4444"/>
                  </a:solidFill>
                  <a:latin typeface="Arial" pitchFamily="34" charset="0"/>
                  <a:ea typeface="Arial" pitchFamily="34" charset="-122"/>
                  <a:cs typeface="Arial" pitchFamily="34" charset="-120"/>
                </a:rPr>
                <a:t>02</a:t>
              </a:r>
              <a:endParaRPr lang="en-US" sz="1800"/>
            </a:p>
          </p:txBody>
        </p:sp>
        <p:sp>
          <p:nvSpPr>
            <p:cNvPr id="41" name="Text 11"/>
            <p:cNvSpPr/>
            <p:nvPr/>
          </p:nvSpPr>
          <p:spPr>
            <a:xfrm>
              <a:off x="1773701" y="5467119"/>
              <a:ext cx="7683555" cy="419100"/>
            </a:xfrm>
            <a:prstGeom prst="rect">
              <a:avLst/>
            </a:prstGeom>
            <a:noFill/>
            <a:ln/>
          </p:spPr>
          <p:txBody>
            <a:bodyPr wrap="square" lIns="25400" tIns="25400" rIns="25400" bIns="25400" rtlCol="0" anchor="t">
              <a:normAutofit fontScale="92500" lnSpcReduction="10000"/>
            </a:bodyPr>
            <a:lstStyle/>
            <a:p>
              <a:pPr marL="0" indent="0" algn="l">
                <a:buNone/>
              </a:pPr>
              <a:r>
                <a:rPr lang="en-US" sz="2400" b="1" kern="0" spc="-24">
                  <a:solidFill>
                    <a:srgbClr val="E5E7EB"/>
                  </a:solidFill>
                  <a:latin typeface="Arial" pitchFamily="34" charset="0"/>
                  <a:ea typeface="Arial" pitchFamily="34" charset="-122"/>
                  <a:cs typeface="Arial" pitchFamily="34" charset="-120"/>
                </a:rPr>
                <a:t>Vanilla web stack + GSAP</a:t>
              </a:r>
              <a:endParaRPr lang="en-US" sz="2400"/>
            </a:p>
          </p:txBody>
        </p:sp>
        <p:sp>
          <p:nvSpPr>
            <p:cNvPr id="42" name="Text 12"/>
            <p:cNvSpPr/>
            <p:nvPr/>
          </p:nvSpPr>
          <p:spPr>
            <a:xfrm>
              <a:off x="1773701" y="5905170"/>
              <a:ext cx="7683555" cy="723702"/>
            </a:xfrm>
            <a:prstGeom prst="rect">
              <a:avLst/>
            </a:prstGeom>
            <a:noFill/>
            <a:ln/>
          </p:spPr>
          <p:txBody>
            <a:bodyPr wrap="square" lIns="25400" tIns="25400" rIns="25400" bIns="25400" rtlCol="0" anchor="t">
              <a:normAutofit fontScale="92500"/>
            </a:bodyPr>
            <a:lstStyle/>
            <a:p>
              <a:pPr marL="0" indent="0" algn="l">
                <a:lnSpc>
                  <a:spcPct val="150000"/>
                </a:lnSpc>
                <a:buNone/>
              </a:pPr>
              <a:r>
                <a:rPr lang="en-US" sz="1800">
                  <a:solidFill>
                    <a:srgbClr val="94A3B8"/>
                  </a:solidFill>
                  <a:latin typeface="Arial" pitchFamily="34" charset="0"/>
                  <a:ea typeface="Arial" pitchFamily="34" charset="-122"/>
                  <a:cs typeface="Arial" pitchFamily="34" charset="-120"/>
                </a:rPr>
                <a:t>HTML5, CSS3, and JavaScript, animations powered by GSAP and ScrollTrigger.</a:t>
              </a:r>
              <a:endParaRPr lang="en-US" sz="1800"/>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0E1A"/>
        </a:solidFill>
        <a:effectLst/>
      </p:bgPr>
    </p:bg>
    <p:spTree>
      <p:nvGrpSpPr>
        <p:cNvPr id="1" name=""/>
        <p:cNvGrpSpPr/>
        <p:nvPr/>
      </p:nvGrpSpPr>
      <p:grpSpPr>
        <a:xfrm>
          <a:off x="0" y="0"/>
          <a:ext cx="0" cy="0"/>
          <a:chOff x="0" y="0"/>
          <a:chExt cx="0" cy="0"/>
        </a:xfrm>
      </p:grpSpPr>
      <p:sp>
        <p:nvSpPr>
          <p:cNvPr id="2" name="Shape 0"/>
          <p:cNvSpPr/>
          <p:nvPr/>
        </p:nvSpPr>
        <p:spPr>
          <a:xfrm>
            <a:off x="457068" y="457068"/>
            <a:ext cx="696350" cy="10583"/>
          </a:xfrm>
          <a:prstGeom prst="rect">
            <a:avLst/>
          </a:prstGeom>
          <a:solidFill>
            <a:srgbClr val="EF4444"/>
          </a:solidFill>
          <a:ln/>
        </p:spPr>
        <p:txBody>
          <a:bodyPr/>
          <a:lstStyle/>
          <a:p>
            <a:endParaRPr lang="en-US"/>
          </a:p>
        </p:txBody>
      </p:sp>
      <p:sp>
        <p:nvSpPr>
          <p:cNvPr id="3" name="Shape 1"/>
          <p:cNvSpPr/>
          <p:nvPr/>
        </p:nvSpPr>
        <p:spPr>
          <a:xfrm>
            <a:off x="457068" y="457068"/>
            <a:ext cx="10583" cy="696350"/>
          </a:xfrm>
          <a:prstGeom prst="rect">
            <a:avLst/>
          </a:prstGeom>
          <a:solidFill>
            <a:srgbClr val="EF4444"/>
          </a:solidFill>
          <a:ln/>
        </p:spPr>
        <p:txBody>
          <a:bodyPr/>
          <a:lstStyle/>
          <a:p>
            <a:endParaRPr lang="en-US"/>
          </a:p>
        </p:txBody>
      </p:sp>
      <p:sp>
        <p:nvSpPr>
          <p:cNvPr id="4" name="Text 2"/>
          <p:cNvSpPr/>
          <p:nvPr/>
        </p:nvSpPr>
        <p:spPr>
          <a:xfrm>
            <a:off x="952500" y="952500"/>
            <a:ext cx="16874491" cy="334433"/>
          </a:xfrm>
          <a:prstGeom prst="rect">
            <a:avLst/>
          </a:prstGeom>
          <a:noFill/>
          <a:ln/>
        </p:spPr>
        <p:txBody>
          <a:bodyPr wrap="square" lIns="25400" tIns="25400" rIns="25400" bIns="25400" rtlCol="0" anchor="ctr">
            <a:normAutofit/>
          </a:bodyPr>
          <a:lstStyle/>
          <a:p>
            <a:pPr marL="0" indent="0" algn="l">
              <a:buNone/>
            </a:pPr>
            <a:r>
              <a:rPr lang="en-US" sz="1800" kern="0" spc="324">
                <a:solidFill>
                  <a:srgbClr val="EF4444"/>
                </a:solidFill>
                <a:latin typeface="Arial" pitchFamily="34" charset="0"/>
                <a:ea typeface="Arial" pitchFamily="34" charset="-122"/>
                <a:cs typeface="Arial" pitchFamily="34" charset="-120"/>
              </a:rPr>
              <a:t>02 / WALKTHROUGH</a:t>
            </a:r>
            <a:endParaRPr lang="en-US" sz="1800"/>
          </a:p>
        </p:txBody>
      </p:sp>
      <p:sp>
        <p:nvSpPr>
          <p:cNvPr id="5" name="Text 3"/>
          <p:cNvSpPr/>
          <p:nvPr/>
        </p:nvSpPr>
        <p:spPr>
          <a:xfrm>
            <a:off x="952500" y="1439333"/>
            <a:ext cx="16874491" cy="708488"/>
          </a:xfrm>
          <a:prstGeom prst="rect">
            <a:avLst/>
          </a:prstGeom>
          <a:noFill/>
          <a:ln/>
        </p:spPr>
        <p:txBody>
          <a:bodyPr wrap="square" lIns="25400" tIns="25400" rIns="25400" bIns="25400" rtlCol="0" anchor="t">
            <a:normAutofit fontScale="92500" lnSpcReduction="20000"/>
          </a:bodyPr>
          <a:lstStyle/>
          <a:p>
            <a:pPr marL="0" indent="0" algn="l">
              <a:lnSpc>
                <a:spcPct val="110000"/>
              </a:lnSpc>
              <a:buNone/>
            </a:pPr>
            <a:r>
              <a:rPr lang="en-US" sz="4800" b="1" kern="0" spc="-96">
                <a:solidFill>
                  <a:srgbClr val="E5E7EB"/>
                </a:solidFill>
                <a:latin typeface="Arial" pitchFamily="34" charset="0"/>
                <a:ea typeface="Arial" pitchFamily="34" charset="-122"/>
                <a:cs typeface="Arial" pitchFamily="34" charset="-120"/>
              </a:rPr>
              <a:t>Live Demo</a:t>
            </a:r>
            <a:endParaRPr lang="en-US" sz="4800"/>
          </a:p>
        </p:txBody>
      </p:sp>
      <p:sp>
        <p:nvSpPr>
          <p:cNvPr id="6" name="Text 4"/>
          <p:cNvSpPr/>
          <p:nvPr/>
        </p:nvSpPr>
        <p:spPr>
          <a:xfrm>
            <a:off x="952500" y="2528755"/>
            <a:ext cx="11772900" cy="507570"/>
          </a:xfrm>
          <a:prstGeom prst="rect">
            <a:avLst/>
          </a:prstGeom>
          <a:noFill/>
          <a:ln/>
        </p:spPr>
        <p:txBody>
          <a:bodyPr wrap="square" lIns="25400" tIns="25400" rIns="25400" bIns="25400" rtlCol="0" anchor="t">
            <a:normAutofit fontScale="92500" lnSpcReduction="10000"/>
          </a:bodyPr>
          <a:lstStyle/>
          <a:p>
            <a:pPr marL="0" indent="0" algn="l">
              <a:lnSpc>
                <a:spcPct val="145000"/>
              </a:lnSpc>
              <a:buNone/>
            </a:pPr>
            <a:r>
              <a:rPr lang="en-US" sz="2550">
                <a:solidFill>
                  <a:srgbClr val="CBD5E1"/>
                </a:solidFill>
                <a:latin typeface="Arial" pitchFamily="34" charset="0"/>
                <a:ea typeface="Arial" pitchFamily="34" charset="-122"/>
                <a:cs typeface="Arial" pitchFamily="34" charset="-120"/>
              </a:rPr>
              <a:t>Switching to the live site — here is the path I will walk through, end to end.</a:t>
            </a:r>
            <a:endParaRPr lang="en-US" sz="2550"/>
          </a:p>
        </p:txBody>
      </p:sp>
      <p:sp>
        <p:nvSpPr>
          <p:cNvPr id="7" name="Shape 5"/>
          <p:cNvSpPr/>
          <p:nvPr/>
        </p:nvSpPr>
        <p:spPr>
          <a:xfrm>
            <a:off x="952500" y="3379225"/>
            <a:ext cx="5321267" cy="1845303"/>
          </a:xfrm>
          <a:prstGeom prst="roundRect">
            <a:avLst>
              <a:gd name="adj" fmla="val 7226"/>
            </a:avLst>
          </a:prstGeom>
          <a:solidFill>
            <a:srgbClr val="111827"/>
          </a:solidFill>
          <a:ln w="10583">
            <a:solidFill>
              <a:srgbClr val="1F2937"/>
            </a:solidFill>
            <a:prstDash val="solid"/>
          </a:ln>
        </p:spPr>
        <p:txBody>
          <a:bodyPr/>
          <a:lstStyle/>
          <a:p>
            <a:endParaRPr lang="en-US"/>
          </a:p>
        </p:txBody>
      </p:sp>
      <p:sp>
        <p:nvSpPr>
          <p:cNvPr id="8" name="Text 6"/>
          <p:cNvSpPr/>
          <p:nvPr/>
        </p:nvSpPr>
        <p:spPr>
          <a:xfrm>
            <a:off x="1191617" y="3618343"/>
            <a:ext cx="4988324" cy="313267"/>
          </a:xfrm>
          <a:prstGeom prst="rect">
            <a:avLst/>
          </a:prstGeom>
          <a:noFill/>
          <a:ln/>
        </p:spPr>
        <p:txBody>
          <a:bodyPr wrap="square" lIns="25400" tIns="25400" rIns="25400" bIns="25400" rtlCol="0" anchor="t">
            <a:normAutofit lnSpcReduction="10000"/>
          </a:bodyPr>
          <a:lstStyle/>
          <a:p>
            <a:pPr marL="0" indent="0" algn="l">
              <a:buNone/>
            </a:pPr>
            <a:r>
              <a:rPr lang="en-US" sz="1800" kern="0" spc="180">
                <a:solidFill>
                  <a:srgbClr val="EF4444"/>
                </a:solidFill>
                <a:latin typeface="Arial" pitchFamily="34" charset="0"/>
                <a:ea typeface="Arial" pitchFamily="34" charset="-122"/>
                <a:cs typeface="Arial" pitchFamily="34" charset="-120"/>
              </a:rPr>
              <a:t>→ STEP 01</a:t>
            </a:r>
            <a:endParaRPr lang="en-US" sz="1800"/>
          </a:p>
        </p:txBody>
      </p:sp>
      <p:sp>
        <p:nvSpPr>
          <p:cNvPr id="9" name="Text 7"/>
          <p:cNvSpPr/>
          <p:nvPr/>
        </p:nvSpPr>
        <p:spPr>
          <a:xfrm>
            <a:off x="1191617" y="4007611"/>
            <a:ext cx="4988324" cy="408517"/>
          </a:xfrm>
          <a:prstGeom prst="rect">
            <a:avLst/>
          </a:prstGeom>
          <a:noFill/>
          <a:ln/>
        </p:spPr>
        <p:txBody>
          <a:bodyPr wrap="square" lIns="25400" tIns="25400" rIns="25400" bIns="25400" rtlCol="0" anchor="t">
            <a:normAutofit/>
          </a:bodyPr>
          <a:lstStyle/>
          <a:p>
            <a:pPr marL="0" indent="0" algn="l">
              <a:buNone/>
            </a:pPr>
            <a:r>
              <a:rPr lang="en-US" sz="2250" b="1" kern="0" spc="-22">
                <a:solidFill>
                  <a:srgbClr val="E5E7EB"/>
                </a:solidFill>
                <a:latin typeface="Arial" pitchFamily="34" charset="0"/>
                <a:ea typeface="Arial" pitchFamily="34" charset="-122"/>
                <a:cs typeface="Arial" pitchFamily="34" charset="-120"/>
              </a:rPr>
              <a:t>Hero</a:t>
            </a:r>
            <a:endParaRPr lang="en-US" sz="2250"/>
          </a:p>
        </p:txBody>
      </p:sp>
      <p:sp>
        <p:nvSpPr>
          <p:cNvPr id="10" name="Text 8"/>
          <p:cNvSpPr/>
          <p:nvPr/>
        </p:nvSpPr>
        <p:spPr>
          <a:xfrm>
            <a:off x="1191617" y="4530163"/>
            <a:ext cx="4988324" cy="700551"/>
          </a:xfrm>
          <a:prstGeom prst="rect">
            <a:avLst/>
          </a:prstGeom>
          <a:noFill/>
          <a:ln/>
        </p:spPr>
        <p:txBody>
          <a:bodyPr wrap="square" lIns="25400" tIns="25400" rIns="25400" bIns="25400" rtlCol="0" anchor="t">
            <a:normAutofit fontScale="92500" lnSpcReduction="20000"/>
          </a:bodyPr>
          <a:lstStyle/>
          <a:p>
            <a:pPr marL="0" indent="0" algn="l">
              <a:lnSpc>
                <a:spcPct val="145000"/>
              </a:lnSpc>
              <a:buNone/>
            </a:pPr>
            <a:r>
              <a:rPr lang="en-US" sz="1800">
                <a:solidFill>
                  <a:srgbClr val="94A3B8"/>
                </a:solidFill>
                <a:latin typeface="Arial" pitchFamily="34" charset="0"/>
                <a:ea typeface="Arial" pitchFamily="34" charset="-122"/>
                <a:cs typeface="Arial" pitchFamily="34" charset="-120"/>
              </a:rPr>
              <a:t>Typing effect, particle cursor, dark/light theme toggle.</a:t>
            </a:r>
            <a:endParaRPr lang="en-US" sz="1800"/>
          </a:p>
        </p:txBody>
      </p:sp>
      <p:sp>
        <p:nvSpPr>
          <p:cNvPr id="11" name="Shape 9"/>
          <p:cNvSpPr/>
          <p:nvPr/>
        </p:nvSpPr>
        <p:spPr>
          <a:xfrm>
            <a:off x="1191617" y="5268681"/>
            <a:ext cx="4843033" cy="10583"/>
          </a:xfrm>
          <a:prstGeom prst="rect">
            <a:avLst/>
          </a:prstGeom>
          <a:solidFill>
            <a:srgbClr val="1F2937"/>
          </a:solidFill>
          <a:ln/>
        </p:spPr>
        <p:txBody>
          <a:bodyPr/>
          <a:lstStyle/>
          <a:p>
            <a:endParaRPr lang="en-US"/>
          </a:p>
        </p:txBody>
      </p:sp>
      <p:sp>
        <p:nvSpPr>
          <p:cNvPr id="12" name="Text 10"/>
          <p:cNvSpPr/>
          <p:nvPr/>
        </p:nvSpPr>
        <p:spPr>
          <a:xfrm>
            <a:off x="1191617" y="5431665"/>
            <a:ext cx="4988324" cy="313167"/>
          </a:xfrm>
          <a:prstGeom prst="rect">
            <a:avLst/>
          </a:prstGeom>
          <a:noFill/>
          <a:ln/>
        </p:spPr>
        <p:txBody>
          <a:bodyPr wrap="square" lIns="25400" tIns="25400" rIns="25400" bIns="25400" rtlCol="0" anchor="t">
            <a:normAutofit lnSpcReduction="10000"/>
          </a:bodyPr>
          <a:lstStyle/>
          <a:p>
            <a:pPr marL="0" indent="0" algn="l">
              <a:buNone/>
            </a:pPr>
            <a:r>
              <a:rPr lang="en-US" sz="1800">
                <a:solidFill>
                  <a:srgbClr val="64748B"/>
                </a:solidFill>
                <a:latin typeface="Arial" pitchFamily="34" charset="0"/>
                <a:ea typeface="Arial" pitchFamily="34" charset="-122"/>
                <a:cs typeface="Arial" pitchFamily="34" charset="-120"/>
              </a:rPr>
              <a:t>~ 30 sec</a:t>
            </a:r>
            <a:endParaRPr lang="en-US" sz="1800"/>
          </a:p>
        </p:txBody>
      </p:sp>
      <p:sp>
        <p:nvSpPr>
          <p:cNvPr id="13" name="Shape 11"/>
          <p:cNvSpPr/>
          <p:nvPr/>
        </p:nvSpPr>
        <p:spPr>
          <a:xfrm>
            <a:off x="6483284" y="3379225"/>
            <a:ext cx="5321267" cy="1845303"/>
          </a:xfrm>
          <a:prstGeom prst="roundRect">
            <a:avLst>
              <a:gd name="adj" fmla="val 7226"/>
            </a:avLst>
          </a:prstGeom>
          <a:solidFill>
            <a:srgbClr val="111827"/>
          </a:solidFill>
          <a:ln w="10583">
            <a:solidFill>
              <a:srgbClr val="1F2937"/>
            </a:solidFill>
            <a:prstDash val="solid"/>
          </a:ln>
        </p:spPr>
        <p:txBody>
          <a:bodyPr/>
          <a:lstStyle/>
          <a:p>
            <a:endParaRPr lang="en-US"/>
          </a:p>
        </p:txBody>
      </p:sp>
      <p:sp>
        <p:nvSpPr>
          <p:cNvPr id="14" name="Text 12"/>
          <p:cNvSpPr/>
          <p:nvPr/>
        </p:nvSpPr>
        <p:spPr>
          <a:xfrm>
            <a:off x="6722401" y="3618343"/>
            <a:ext cx="4988324" cy="313267"/>
          </a:xfrm>
          <a:prstGeom prst="rect">
            <a:avLst/>
          </a:prstGeom>
          <a:noFill/>
          <a:ln/>
        </p:spPr>
        <p:txBody>
          <a:bodyPr wrap="square" lIns="25400" tIns="25400" rIns="25400" bIns="25400" rtlCol="0" anchor="t">
            <a:normAutofit lnSpcReduction="10000"/>
          </a:bodyPr>
          <a:lstStyle/>
          <a:p>
            <a:pPr marL="0" indent="0" algn="l">
              <a:buNone/>
            </a:pPr>
            <a:r>
              <a:rPr lang="en-US" sz="1800" kern="0" spc="180">
                <a:solidFill>
                  <a:srgbClr val="EF4444"/>
                </a:solidFill>
                <a:latin typeface="Arial" pitchFamily="34" charset="0"/>
                <a:ea typeface="Arial" pitchFamily="34" charset="-122"/>
                <a:cs typeface="Arial" pitchFamily="34" charset="-120"/>
              </a:rPr>
              <a:t>→ STEP 02</a:t>
            </a:r>
            <a:endParaRPr lang="en-US" sz="1800"/>
          </a:p>
        </p:txBody>
      </p:sp>
      <p:sp>
        <p:nvSpPr>
          <p:cNvPr id="15" name="Text 13"/>
          <p:cNvSpPr/>
          <p:nvPr/>
        </p:nvSpPr>
        <p:spPr>
          <a:xfrm>
            <a:off x="6722401" y="4007611"/>
            <a:ext cx="4988324" cy="408517"/>
          </a:xfrm>
          <a:prstGeom prst="rect">
            <a:avLst/>
          </a:prstGeom>
          <a:noFill/>
          <a:ln/>
        </p:spPr>
        <p:txBody>
          <a:bodyPr wrap="square" lIns="25400" tIns="25400" rIns="25400" bIns="25400" rtlCol="0" anchor="t">
            <a:normAutofit/>
          </a:bodyPr>
          <a:lstStyle/>
          <a:p>
            <a:pPr marL="0" indent="0" algn="l">
              <a:buNone/>
            </a:pPr>
            <a:r>
              <a:rPr lang="en-US" sz="2250" b="1" kern="0" spc="-22">
                <a:solidFill>
                  <a:srgbClr val="E5E7EB"/>
                </a:solidFill>
                <a:latin typeface="Arial" pitchFamily="34" charset="0"/>
                <a:ea typeface="Arial" pitchFamily="34" charset="-122"/>
                <a:cs typeface="Arial" pitchFamily="34" charset="-120"/>
              </a:rPr>
              <a:t>About</a:t>
            </a:r>
            <a:endParaRPr lang="en-US" sz="2250"/>
          </a:p>
        </p:txBody>
      </p:sp>
      <p:sp>
        <p:nvSpPr>
          <p:cNvPr id="16" name="Text 14"/>
          <p:cNvSpPr/>
          <p:nvPr/>
        </p:nvSpPr>
        <p:spPr>
          <a:xfrm>
            <a:off x="6722401" y="4530163"/>
            <a:ext cx="4988324" cy="369325"/>
          </a:xfrm>
          <a:prstGeom prst="rect">
            <a:avLst/>
          </a:prstGeom>
          <a:noFill/>
          <a:ln/>
        </p:spPr>
        <p:txBody>
          <a:bodyPr wrap="square" lIns="25400" tIns="25400" rIns="25400" bIns="25400" rtlCol="0" anchor="t">
            <a:normAutofit fontScale="92500" lnSpcReduction="10000"/>
          </a:bodyPr>
          <a:lstStyle/>
          <a:p>
            <a:pPr marL="0" indent="0" algn="l">
              <a:lnSpc>
                <a:spcPct val="145000"/>
              </a:lnSpc>
              <a:buNone/>
            </a:pPr>
            <a:r>
              <a:rPr lang="en-US" sz="1800">
                <a:solidFill>
                  <a:srgbClr val="94A3B8"/>
                </a:solidFill>
                <a:latin typeface="Arial" pitchFamily="34" charset="0"/>
                <a:ea typeface="Arial" pitchFamily="34" charset="-122"/>
                <a:cs typeface="Arial" pitchFamily="34" charset="-120"/>
              </a:rPr>
              <a:t>Animated stat counters scroll into view.</a:t>
            </a:r>
            <a:endParaRPr lang="en-US" sz="1800"/>
          </a:p>
        </p:txBody>
      </p:sp>
      <p:sp>
        <p:nvSpPr>
          <p:cNvPr id="17" name="Shape 15"/>
          <p:cNvSpPr/>
          <p:nvPr/>
        </p:nvSpPr>
        <p:spPr>
          <a:xfrm>
            <a:off x="6722401" y="4937456"/>
            <a:ext cx="4843033" cy="10583"/>
          </a:xfrm>
          <a:prstGeom prst="rect">
            <a:avLst/>
          </a:prstGeom>
          <a:solidFill>
            <a:srgbClr val="1F2937"/>
          </a:solidFill>
          <a:ln/>
        </p:spPr>
        <p:txBody>
          <a:bodyPr/>
          <a:lstStyle/>
          <a:p>
            <a:endParaRPr lang="en-US"/>
          </a:p>
        </p:txBody>
      </p:sp>
      <p:sp>
        <p:nvSpPr>
          <p:cNvPr id="19" name="Shape 17"/>
          <p:cNvSpPr/>
          <p:nvPr/>
        </p:nvSpPr>
        <p:spPr>
          <a:xfrm>
            <a:off x="12014068" y="3379225"/>
            <a:ext cx="5321433" cy="1845303"/>
          </a:xfrm>
          <a:prstGeom prst="roundRect">
            <a:avLst>
              <a:gd name="adj" fmla="val 7226"/>
            </a:avLst>
          </a:prstGeom>
          <a:solidFill>
            <a:srgbClr val="111827"/>
          </a:solidFill>
          <a:ln w="10583">
            <a:solidFill>
              <a:srgbClr val="1F2937"/>
            </a:solidFill>
            <a:prstDash val="solid"/>
          </a:ln>
        </p:spPr>
        <p:txBody>
          <a:bodyPr/>
          <a:lstStyle/>
          <a:p>
            <a:endParaRPr lang="en-US"/>
          </a:p>
        </p:txBody>
      </p:sp>
      <p:sp>
        <p:nvSpPr>
          <p:cNvPr id="20" name="Text 18"/>
          <p:cNvSpPr/>
          <p:nvPr/>
        </p:nvSpPr>
        <p:spPr>
          <a:xfrm>
            <a:off x="12253186" y="3618343"/>
            <a:ext cx="4988494" cy="313267"/>
          </a:xfrm>
          <a:prstGeom prst="rect">
            <a:avLst/>
          </a:prstGeom>
          <a:noFill/>
          <a:ln/>
        </p:spPr>
        <p:txBody>
          <a:bodyPr wrap="square" lIns="25400" tIns="25400" rIns="25400" bIns="25400" rtlCol="0" anchor="t">
            <a:normAutofit lnSpcReduction="10000"/>
          </a:bodyPr>
          <a:lstStyle/>
          <a:p>
            <a:pPr marL="0" indent="0" algn="l">
              <a:buNone/>
            </a:pPr>
            <a:r>
              <a:rPr lang="en-US" sz="1800" kern="0" spc="180">
                <a:solidFill>
                  <a:srgbClr val="EF4444"/>
                </a:solidFill>
                <a:latin typeface="Arial" pitchFamily="34" charset="0"/>
                <a:ea typeface="Arial" pitchFamily="34" charset="-122"/>
                <a:cs typeface="Arial" pitchFamily="34" charset="-120"/>
              </a:rPr>
              <a:t>→ STEP 03</a:t>
            </a:r>
            <a:endParaRPr lang="en-US" sz="1800"/>
          </a:p>
        </p:txBody>
      </p:sp>
      <p:sp>
        <p:nvSpPr>
          <p:cNvPr id="21" name="Text 19"/>
          <p:cNvSpPr/>
          <p:nvPr/>
        </p:nvSpPr>
        <p:spPr>
          <a:xfrm>
            <a:off x="12253186" y="4007611"/>
            <a:ext cx="4988494" cy="408517"/>
          </a:xfrm>
          <a:prstGeom prst="rect">
            <a:avLst/>
          </a:prstGeom>
          <a:noFill/>
          <a:ln/>
        </p:spPr>
        <p:txBody>
          <a:bodyPr wrap="square" lIns="25400" tIns="25400" rIns="25400" bIns="25400" rtlCol="0" anchor="t">
            <a:normAutofit/>
          </a:bodyPr>
          <a:lstStyle/>
          <a:p>
            <a:pPr marL="0" indent="0" algn="l">
              <a:buNone/>
            </a:pPr>
            <a:r>
              <a:rPr lang="en-US" sz="2250" b="1" kern="0" spc="-22">
                <a:solidFill>
                  <a:srgbClr val="E5E7EB"/>
                </a:solidFill>
                <a:latin typeface="Arial" pitchFamily="34" charset="0"/>
                <a:ea typeface="Arial" pitchFamily="34" charset="-122"/>
                <a:cs typeface="Arial" pitchFamily="34" charset="-120"/>
              </a:rPr>
              <a:t>Journey</a:t>
            </a:r>
            <a:endParaRPr lang="en-US" sz="2250"/>
          </a:p>
        </p:txBody>
      </p:sp>
      <p:sp>
        <p:nvSpPr>
          <p:cNvPr id="22" name="Text 20"/>
          <p:cNvSpPr/>
          <p:nvPr/>
        </p:nvSpPr>
        <p:spPr>
          <a:xfrm>
            <a:off x="12253186" y="4530163"/>
            <a:ext cx="4988494" cy="700551"/>
          </a:xfrm>
          <a:prstGeom prst="rect">
            <a:avLst/>
          </a:prstGeom>
          <a:noFill/>
          <a:ln/>
        </p:spPr>
        <p:txBody>
          <a:bodyPr wrap="square" lIns="25400" tIns="25400" rIns="25400" bIns="25400" rtlCol="0" anchor="t">
            <a:normAutofit/>
          </a:bodyPr>
          <a:lstStyle/>
          <a:p>
            <a:pPr marL="0" indent="0" algn="l">
              <a:lnSpc>
                <a:spcPct val="145000"/>
              </a:lnSpc>
              <a:buNone/>
            </a:pPr>
            <a:r>
              <a:rPr lang="en-US" sz="1800">
                <a:solidFill>
                  <a:srgbClr val="94A3B8"/>
                </a:solidFill>
                <a:latin typeface="Arial" pitchFamily="34" charset="0"/>
                <a:ea typeface="Arial" pitchFamily="34" charset="-122"/>
                <a:cs typeface="Arial" pitchFamily="34" charset="-120"/>
              </a:rPr>
              <a:t>Click an experience card to open a detail modal.</a:t>
            </a:r>
            <a:endParaRPr lang="en-US" sz="1800"/>
          </a:p>
        </p:txBody>
      </p:sp>
      <p:sp>
        <p:nvSpPr>
          <p:cNvPr id="23" name="Shape 21"/>
          <p:cNvSpPr/>
          <p:nvPr/>
        </p:nvSpPr>
        <p:spPr>
          <a:xfrm>
            <a:off x="12253186" y="5268681"/>
            <a:ext cx="4843198" cy="10583"/>
          </a:xfrm>
          <a:prstGeom prst="rect">
            <a:avLst/>
          </a:prstGeom>
          <a:solidFill>
            <a:srgbClr val="1F2937"/>
          </a:solidFill>
          <a:ln/>
        </p:spPr>
        <p:txBody>
          <a:bodyPr/>
          <a:lstStyle/>
          <a:p>
            <a:endParaRPr lang="en-US"/>
          </a:p>
        </p:txBody>
      </p:sp>
      <p:sp>
        <p:nvSpPr>
          <p:cNvPr id="24" name="Text 22"/>
          <p:cNvSpPr/>
          <p:nvPr/>
        </p:nvSpPr>
        <p:spPr>
          <a:xfrm>
            <a:off x="12253186" y="5431665"/>
            <a:ext cx="4988494" cy="313167"/>
          </a:xfrm>
          <a:prstGeom prst="rect">
            <a:avLst/>
          </a:prstGeom>
          <a:noFill/>
          <a:ln/>
        </p:spPr>
        <p:txBody>
          <a:bodyPr wrap="square" lIns="25400" tIns="25400" rIns="25400" bIns="25400" rtlCol="0" anchor="t">
            <a:normAutofit lnSpcReduction="10000"/>
          </a:bodyPr>
          <a:lstStyle/>
          <a:p>
            <a:pPr marL="0" indent="0" algn="l">
              <a:buNone/>
            </a:pPr>
            <a:r>
              <a:rPr lang="en-US" sz="1800">
                <a:solidFill>
                  <a:srgbClr val="64748B"/>
                </a:solidFill>
                <a:latin typeface="Arial" pitchFamily="34" charset="0"/>
                <a:ea typeface="Arial" pitchFamily="34" charset="-122"/>
                <a:cs typeface="Arial" pitchFamily="34" charset="-120"/>
              </a:rPr>
              <a:t>~ 30 sec</a:t>
            </a:r>
            <a:endParaRPr lang="en-US" sz="1800"/>
          </a:p>
        </p:txBody>
      </p:sp>
      <p:sp>
        <p:nvSpPr>
          <p:cNvPr id="25" name="Shape 23"/>
          <p:cNvSpPr/>
          <p:nvPr/>
        </p:nvSpPr>
        <p:spPr>
          <a:xfrm>
            <a:off x="952500" y="5434046"/>
            <a:ext cx="5321267" cy="1845469"/>
          </a:xfrm>
          <a:prstGeom prst="roundRect">
            <a:avLst>
              <a:gd name="adj" fmla="val 7226"/>
            </a:avLst>
          </a:prstGeom>
          <a:solidFill>
            <a:srgbClr val="111827"/>
          </a:solidFill>
          <a:ln w="10583">
            <a:solidFill>
              <a:srgbClr val="1F2937"/>
            </a:solidFill>
            <a:prstDash val="solid"/>
          </a:ln>
        </p:spPr>
        <p:txBody>
          <a:bodyPr/>
          <a:lstStyle/>
          <a:p>
            <a:endParaRPr lang="en-US"/>
          </a:p>
        </p:txBody>
      </p:sp>
      <p:sp>
        <p:nvSpPr>
          <p:cNvPr id="26" name="Text 24"/>
          <p:cNvSpPr/>
          <p:nvPr/>
        </p:nvSpPr>
        <p:spPr>
          <a:xfrm>
            <a:off x="1191617" y="5673163"/>
            <a:ext cx="4988324" cy="313267"/>
          </a:xfrm>
          <a:prstGeom prst="rect">
            <a:avLst/>
          </a:prstGeom>
          <a:noFill/>
          <a:ln/>
        </p:spPr>
        <p:txBody>
          <a:bodyPr wrap="square" lIns="25400" tIns="25400" rIns="25400" bIns="25400" rtlCol="0" anchor="t">
            <a:normAutofit lnSpcReduction="10000"/>
          </a:bodyPr>
          <a:lstStyle/>
          <a:p>
            <a:pPr marL="0" indent="0" algn="l">
              <a:buNone/>
            </a:pPr>
            <a:r>
              <a:rPr lang="en-US" sz="1800" kern="0" spc="180">
                <a:solidFill>
                  <a:srgbClr val="EF4444"/>
                </a:solidFill>
                <a:latin typeface="Arial" pitchFamily="34" charset="0"/>
                <a:ea typeface="Arial" pitchFamily="34" charset="-122"/>
                <a:cs typeface="Arial" pitchFamily="34" charset="-120"/>
              </a:rPr>
              <a:t>→ STEP 04</a:t>
            </a:r>
            <a:endParaRPr lang="en-US" sz="1800"/>
          </a:p>
        </p:txBody>
      </p:sp>
      <p:sp>
        <p:nvSpPr>
          <p:cNvPr id="27" name="Text 25"/>
          <p:cNvSpPr/>
          <p:nvPr/>
        </p:nvSpPr>
        <p:spPr>
          <a:xfrm>
            <a:off x="1191617" y="6062431"/>
            <a:ext cx="4988324" cy="408517"/>
          </a:xfrm>
          <a:prstGeom prst="rect">
            <a:avLst/>
          </a:prstGeom>
          <a:noFill/>
          <a:ln/>
        </p:spPr>
        <p:txBody>
          <a:bodyPr wrap="square" lIns="25400" tIns="25400" rIns="25400" bIns="25400" rtlCol="0" anchor="t">
            <a:normAutofit/>
          </a:bodyPr>
          <a:lstStyle/>
          <a:p>
            <a:pPr marL="0" indent="0" algn="l">
              <a:buNone/>
            </a:pPr>
            <a:r>
              <a:rPr lang="en-US" sz="2250" b="1" kern="0" spc="-22">
                <a:solidFill>
                  <a:srgbClr val="E5E7EB"/>
                </a:solidFill>
                <a:latin typeface="Arial" pitchFamily="34" charset="0"/>
                <a:ea typeface="Arial" pitchFamily="34" charset="-122"/>
                <a:cs typeface="Arial" pitchFamily="34" charset="-120"/>
              </a:rPr>
              <a:t>Projects</a:t>
            </a:r>
            <a:endParaRPr lang="en-US" sz="2250"/>
          </a:p>
        </p:txBody>
      </p:sp>
      <p:sp>
        <p:nvSpPr>
          <p:cNvPr id="28" name="Text 26"/>
          <p:cNvSpPr/>
          <p:nvPr/>
        </p:nvSpPr>
        <p:spPr>
          <a:xfrm>
            <a:off x="1191617" y="6584984"/>
            <a:ext cx="4988324" cy="369325"/>
          </a:xfrm>
          <a:prstGeom prst="rect">
            <a:avLst/>
          </a:prstGeom>
          <a:noFill/>
          <a:ln/>
        </p:spPr>
        <p:txBody>
          <a:bodyPr wrap="square" lIns="25400" tIns="25400" rIns="25400" bIns="25400" rtlCol="0" anchor="t">
            <a:normAutofit fontScale="92500" lnSpcReduction="10000"/>
          </a:bodyPr>
          <a:lstStyle/>
          <a:p>
            <a:pPr marL="0" indent="0" algn="l">
              <a:lnSpc>
                <a:spcPct val="145000"/>
              </a:lnSpc>
              <a:buNone/>
            </a:pPr>
            <a:r>
              <a:rPr lang="en-US" sz="1800">
                <a:solidFill>
                  <a:srgbClr val="94A3B8"/>
                </a:solidFill>
                <a:latin typeface="Arial" pitchFamily="34" charset="0"/>
                <a:ea typeface="Arial" pitchFamily="34" charset="-122"/>
                <a:cs typeface="Arial" pitchFamily="34" charset="-120"/>
              </a:rPr>
              <a:t>Filter by AI/ML, sort A–Z, open a project card.</a:t>
            </a:r>
            <a:endParaRPr lang="en-US" sz="1800"/>
          </a:p>
        </p:txBody>
      </p:sp>
      <p:sp>
        <p:nvSpPr>
          <p:cNvPr id="29" name="Shape 27"/>
          <p:cNvSpPr/>
          <p:nvPr/>
        </p:nvSpPr>
        <p:spPr>
          <a:xfrm>
            <a:off x="1191617" y="6992276"/>
            <a:ext cx="4843033" cy="10583"/>
          </a:xfrm>
          <a:prstGeom prst="rect">
            <a:avLst/>
          </a:prstGeom>
          <a:solidFill>
            <a:srgbClr val="1F2937"/>
          </a:solidFill>
          <a:ln/>
        </p:spPr>
        <p:txBody>
          <a:bodyPr/>
          <a:lstStyle/>
          <a:p>
            <a:endParaRPr lang="en-US"/>
          </a:p>
        </p:txBody>
      </p:sp>
      <p:sp>
        <p:nvSpPr>
          <p:cNvPr id="31" name="Shape 29"/>
          <p:cNvSpPr/>
          <p:nvPr/>
        </p:nvSpPr>
        <p:spPr>
          <a:xfrm>
            <a:off x="6483284" y="5434046"/>
            <a:ext cx="5321267" cy="1845469"/>
          </a:xfrm>
          <a:prstGeom prst="roundRect">
            <a:avLst>
              <a:gd name="adj" fmla="val 7226"/>
            </a:avLst>
          </a:prstGeom>
          <a:solidFill>
            <a:srgbClr val="111827"/>
          </a:solidFill>
          <a:ln w="10583">
            <a:solidFill>
              <a:srgbClr val="1F2937"/>
            </a:solidFill>
            <a:prstDash val="solid"/>
          </a:ln>
        </p:spPr>
        <p:txBody>
          <a:bodyPr/>
          <a:lstStyle/>
          <a:p>
            <a:endParaRPr lang="en-US"/>
          </a:p>
        </p:txBody>
      </p:sp>
      <p:sp>
        <p:nvSpPr>
          <p:cNvPr id="32" name="Text 30"/>
          <p:cNvSpPr/>
          <p:nvPr/>
        </p:nvSpPr>
        <p:spPr>
          <a:xfrm>
            <a:off x="6722401" y="5673163"/>
            <a:ext cx="4988324" cy="313267"/>
          </a:xfrm>
          <a:prstGeom prst="rect">
            <a:avLst/>
          </a:prstGeom>
          <a:noFill/>
          <a:ln/>
        </p:spPr>
        <p:txBody>
          <a:bodyPr wrap="square" lIns="25400" tIns="25400" rIns="25400" bIns="25400" rtlCol="0" anchor="t">
            <a:normAutofit lnSpcReduction="10000"/>
          </a:bodyPr>
          <a:lstStyle/>
          <a:p>
            <a:pPr marL="0" indent="0" algn="l">
              <a:buNone/>
            </a:pPr>
            <a:r>
              <a:rPr lang="en-US" sz="1800" kern="0" spc="180">
                <a:solidFill>
                  <a:srgbClr val="EF4444"/>
                </a:solidFill>
                <a:latin typeface="Arial" pitchFamily="34" charset="0"/>
                <a:ea typeface="Arial" pitchFamily="34" charset="-122"/>
                <a:cs typeface="Arial" pitchFamily="34" charset="-120"/>
              </a:rPr>
              <a:t>→ STEP 05</a:t>
            </a:r>
            <a:endParaRPr lang="en-US" sz="1800"/>
          </a:p>
        </p:txBody>
      </p:sp>
      <p:sp>
        <p:nvSpPr>
          <p:cNvPr id="33" name="Text 31"/>
          <p:cNvSpPr/>
          <p:nvPr/>
        </p:nvSpPr>
        <p:spPr>
          <a:xfrm>
            <a:off x="6722401" y="6062431"/>
            <a:ext cx="4988324" cy="408517"/>
          </a:xfrm>
          <a:prstGeom prst="rect">
            <a:avLst/>
          </a:prstGeom>
          <a:noFill/>
          <a:ln/>
        </p:spPr>
        <p:txBody>
          <a:bodyPr wrap="square" lIns="25400" tIns="25400" rIns="25400" bIns="25400" rtlCol="0" anchor="t">
            <a:normAutofit/>
          </a:bodyPr>
          <a:lstStyle/>
          <a:p>
            <a:pPr marL="0" indent="0" algn="l">
              <a:buNone/>
            </a:pPr>
            <a:r>
              <a:rPr lang="en-US" sz="2250" b="1" kern="0" spc="-22">
                <a:solidFill>
                  <a:srgbClr val="E5E7EB"/>
                </a:solidFill>
                <a:latin typeface="Arial" pitchFamily="34" charset="0"/>
                <a:ea typeface="Arial" pitchFamily="34" charset="-122"/>
                <a:cs typeface="Arial" pitchFamily="34" charset="-120"/>
              </a:rPr>
              <a:t>GitHub Repos</a:t>
            </a:r>
            <a:endParaRPr lang="en-US" sz="2250"/>
          </a:p>
        </p:txBody>
      </p:sp>
      <p:sp>
        <p:nvSpPr>
          <p:cNvPr id="34" name="Text 32"/>
          <p:cNvSpPr/>
          <p:nvPr/>
        </p:nvSpPr>
        <p:spPr>
          <a:xfrm>
            <a:off x="6722401" y="6584984"/>
            <a:ext cx="4988324" cy="369325"/>
          </a:xfrm>
          <a:prstGeom prst="rect">
            <a:avLst/>
          </a:prstGeom>
          <a:noFill/>
          <a:ln/>
        </p:spPr>
        <p:txBody>
          <a:bodyPr wrap="square" lIns="25400" tIns="25400" rIns="25400" bIns="25400" rtlCol="0" anchor="t">
            <a:normAutofit fontScale="92500" lnSpcReduction="10000"/>
          </a:bodyPr>
          <a:lstStyle/>
          <a:p>
            <a:pPr marL="0" indent="0" algn="l">
              <a:lnSpc>
                <a:spcPct val="145000"/>
              </a:lnSpc>
              <a:buNone/>
            </a:pPr>
            <a:r>
              <a:rPr lang="en-US" sz="1800">
                <a:solidFill>
                  <a:srgbClr val="94A3B8"/>
                </a:solidFill>
                <a:latin typeface="Arial" pitchFamily="34" charset="0"/>
                <a:ea typeface="Arial" pitchFamily="34" charset="-122"/>
                <a:cs typeface="Arial" pitchFamily="34" charset="-120"/>
              </a:rPr>
              <a:t>Live GitHub API data with language colors.</a:t>
            </a:r>
            <a:endParaRPr lang="en-US" sz="1800"/>
          </a:p>
        </p:txBody>
      </p:sp>
      <p:sp>
        <p:nvSpPr>
          <p:cNvPr id="35" name="Shape 33"/>
          <p:cNvSpPr/>
          <p:nvPr/>
        </p:nvSpPr>
        <p:spPr>
          <a:xfrm>
            <a:off x="6722401" y="6992276"/>
            <a:ext cx="4843033" cy="10583"/>
          </a:xfrm>
          <a:prstGeom prst="rect">
            <a:avLst/>
          </a:prstGeom>
          <a:solidFill>
            <a:srgbClr val="1F2937"/>
          </a:solidFill>
          <a:ln/>
        </p:spPr>
        <p:txBody>
          <a:bodyPr/>
          <a:lstStyle/>
          <a:p>
            <a:endParaRPr lang="en-US"/>
          </a:p>
        </p:txBody>
      </p:sp>
      <p:sp>
        <p:nvSpPr>
          <p:cNvPr id="37" name="Shape 35"/>
          <p:cNvSpPr/>
          <p:nvPr/>
        </p:nvSpPr>
        <p:spPr>
          <a:xfrm>
            <a:off x="12014068" y="5434046"/>
            <a:ext cx="5321433" cy="1845469"/>
          </a:xfrm>
          <a:prstGeom prst="roundRect">
            <a:avLst>
              <a:gd name="adj" fmla="val 7226"/>
            </a:avLst>
          </a:prstGeom>
          <a:solidFill>
            <a:srgbClr val="111827"/>
          </a:solidFill>
          <a:ln w="10583">
            <a:solidFill>
              <a:srgbClr val="1F2937"/>
            </a:solidFill>
            <a:prstDash val="solid"/>
          </a:ln>
        </p:spPr>
        <p:txBody>
          <a:bodyPr/>
          <a:lstStyle/>
          <a:p>
            <a:endParaRPr lang="en-US"/>
          </a:p>
        </p:txBody>
      </p:sp>
      <p:sp>
        <p:nvSpPr>
          <p:cNvPr id="38" name="Text 36"/>
          <p:cNvSpPr/>
          <p:nvPr/>
        </p:nvSpPr>
        <p:spPr>
          <a:xfrm>
            <a:off x="12253186" y="5673163"/>
            <a:ext cx="4988494" cy="313267"/>
          </a:xfrm>
          <a:prstGeom prst="rect">
            <a:avLst/>
          </a:prstGeom>
          <a:noFill/>
          <a:ln/>
        </p:spPr>
        <p:txBody>
          <a:bodyPr wrap="square" lIns="25400" tIns="25400" rIns="25400" bIns="25400" rtlCol="0" anchor="t">
            <a:normAutofit lnSpcReduction="10000"/>
          </a:bodyPr>
          <a:lstStyle/>
          <a:p>
            <a:pPr marL="0" indent="0" algn="l">
              <a:buNone/>
            </a:pPr>
            <a:r>
              <a:rPr lang="en-US" sz="1800" kern="0" spc="180">
                <a:solidFill>
                  <a:srgbClr val="EF4444"/>
                </a:solidFill>
                <a:latin typeface="Arial" pitchFamily="34" charset="0"/>
                <a:ea typeface="Arial" pitchFamily="34" charset="-122"/>
                <a:cs typeface="Arial" pitchFamily="34" charset="-120"/>
              </a:rPr>
              <a:t>→ STEP 06</a:t>
            </a:r>
            <a:endParaRPr lang="en-US" sz="1800"/>
          </a:p>
        </p:txBody>
      </p:sp>
      <p:sp>
        <p:nvSpPr>
          <p:cNvPr id="39" name="Text 37"/>
          <p:cNvSpPr/>
          <p:nvPr/>
        </p:nvSpPr>
        <p:spPr>
          <a:xfrm>
            <a:off x="12253186" y="6062431"/>
            <a:ext cx="4988494" cy="408517"/>
          </a:xfrm>
          <a:prstGeom prst="rect">
            <a:avLst/>
          </a:prstGeom>
          <a:noFill/>
          <a:ln/>
        </p:spPr>
        <p:txBody>
          <a:bodyPr wrap="square" lIns="25400" tIns="25400" rIns="25400" bIns="25400" rtlCol="0" anchor="t">
            <a:normAutofit/>
          </a:bodyPr>
          <a:lstStyle/>
          <a:p>
            <a:pPr marL="0" indent="0" algn="l">
              <a:buNone/>
            </a:pPr>
            <a:r>
              <a:rPr lang="en-US" sz="2250" b="1" kern="0" spc="-22">
                <a:solidFill>
                  <a:srgbClr val="E5E7EB"/>
                </a:solidFill>
                <a:latin typeface="Arial" pitchFamily="34" charset="0"/>
                <a:ea typeface="Arial" pitchFamily="34" charset="-122"/>
                <a:cs typeface="Arial" pitchFamily="34" charset="-120"/>
              </a:rPr>
              <a:t>Fun Zone</a:t>
            </a:r>
            <a:endParaRPr lang="en-US" sz="2250"/>
          </a:p>
        </p:txBody>
      </p:sp>
      <p:sp>
        <p:nvSpPr>
          <p:cNvPr id="40" name="Text 38"/>
          <p:cNvSpPr/>
          <p:nvPr/>
        </p:nvSpPr>
        <p:spPr>
          <a:xfrm>
            <a:off x="12253186" y="6584984"/>
            <a:ext cx="4988494" cy="700551"/>
          </a:xfrm>
          <a:prstGeom prst="rect">
            <a:avLst/>
          </a:prstGeom>
          <a:noFill/>
          <a:ln/>
        </p:spPr>
        <p:txBody>
          <a:bodyPr wrap="square" lIns="25400" tIns="25400" rIns="25400" bIns="25400" rtlCol="0" anchor="t">
            <a:normAutofit fontScale="92500"/>
          </a:bodyPr>
          <a:lstStyle/>
          <a:p>
            <a:pPr marL="0" indent="0" algn="l">
              <a:lnSpc>
                <a:spcPct val="145000"/>
              </a:lnSpc>
              <a:buNone/>
            </a:pPr>
            <a:r>
              <a:rPr lang="en-US" sz="1800">
                <a:solidFill>
                  <a:srgbClr val="94A3B8"/>
                </a:solidFill>
                <a:latin typeface="Arial" pitchFamily="34" charset="0"/>
                <a:ea typeface="Arial" pitchFamily="34" charset="-122"/>
                <a:cs typeface="Arial" pitchFamily="34" charset="-120"/>
              </a:rPr>
              <a:t>Search a movie via OMDb and a game via RAWG.</a:t>
            </a:r>
            <a:endParaRPr lang="en-US" sz="1800"/>
          </a:p>
        </p:txBody>
      </p:sp>
      <p:sp>
        <p:nvSpPr>
          <p:cNvPr id="41" name="Shape 39"/>
          <p:cNvSpPr/>
          <p:nvPr/>
        </p:nvSpPr>
        <p:spPr>
          <a:xfrm>
            <a:off x="12253186" y="7323502"/>
            <a:ext cx="4843198" cy="10583"/>
          </a:xfrm>
          <a:prstGeom prst="rect">
            <a:avLst/>
          </a:prstGeom>
          <a:solidFill>
            <a:srgbClr val="1F2937"/>
          </a:solidFill>
          <a:ln/>
        </p:spPr>
        <p:txBody>
          <a:bodyPr/>
          <a:lstStyle/>
          <a:p>
            <a:endParaRPr lang="en-US"/>
          </a:p>
        </p:txBody>
      </p:sp>
      <p:sp>
        <p:nvSpPr>
          <p:cNvPr id="42" name="Text 40"/>
          <p:cNvSpPr/>
          <p:nvPr/>
        </p:nvSpPr>
        <p:spPr>
          <a:xfrm>
            <a:off x="12253186" y="7486485"/>
            <a:ext cx="4988494" cy="313167"/>
          </a:xfrm>
          <a:prstGeom prst="rect">
            <a:avLst/>
          </a:prstGeom>
          <a:noFill/>
          <a:ln/>
        </p:spPr>
        <p:txBody>
          <a:bodyPr wrap="square" lIns="25400" tIns="25400" rIns="25400" bIns="25400" rtlCol="0" anchor="t">
            <a:normAutofit lnSpcReduction="10000"/>
          </a:bodyPr>
          <a:lstStyle/>
          <a:p>
            <a:pPr marL="0" indent="0" algn="l">
              <a:buNone/>
            </a:pPr>
            <a:r>
              <a:rPr lang="en-US" sz="1800">
                <a:solidFill>
                  <a:srgbClr val="64748B"/>
                </a:solidFill>
                <a:latin typeface="Arial" pitchFamily="34" charset="0"/>
                <a:ea typeface="Arial" pitchFamily="34" charset="-122"/>
                <a:cs typeface="Arial" pitchFamily="34" charset="-120"/>
              </a:rPr>
              <a:t>~ 45 sec</a:t>
            </a:r>
            <a:endParaRPr lang="en-US" sz="1800"/>
          </a:p>
        </p:txBody>
      </p:sp>
      <p:sp>
        <p:nvSpPr>
          <p:cNvPr id="43" name="Shape 41"/>
          <p:cNvSpPr/>
          <p:nvPr/>
        </p:nvSpPr>
        <p:spPr>
          <a:xfrm>
            <a:off x="952500" y="7489032"/>
            <a:ext cx="5321267" cy="1845469"/>
          </a:xfrm>
          <a:prstGeom prst="roundRect">
            <a:avLst>
              <a:gd name="adj" fmla="val 7226"/>
            </a:avLst>
          </a:prstGeom>
          <a:solidFill>
            <a:srgbClr val="111827"/>
          </a:solidFill>
          <a:ln w="10583">
            <a:solidFill>
              <a:srgbClr val="1F2937"/>
            </a:solidFill>
            <a:prstDash val="solid"/>
          </a:ln>
        </p:spPr>
        <p:txBody>
          <a:bodyPr/>
          <a:lstStyle/>
          <a:p>
            <a:endParaRPr lang="en-US"/>
          </a:p>
        </p:txBody>
      </p:sp>
      <p:sp>
        <p:nvSpPr>
          <p:cNvPr id="44" name="Text 42"/>
          <p:cNvSpPr/>
          <p:nvPr/>
        </p:nvSpPr>
        <p:spPr>
          <a:xfrm>
            <a:off x="1191617" y="7728149"/>
            <a:ext cx="4988324" cy="313267"/>
          </a:xfrm>
          <a:prstGeom prst="rect">
            <a:avLst/>
          </a:prstGeom>
          <a:noFill/>
          <a:ln/>
        </p:spPr>
        <p:txBody>
          <a:bodyPr wrap="square" lIns="25400" tIns="25400" rIns="25400" bIns="25400" rtlCol="0" anchor="t">
            <a:normAutofit lnSpcReduction="10000"/>
          </a:bodyPr>
          <a:lstStyle/>
          <a:p>
            <a:pPr marL="0" indent="0" algn="l">
              <a:buNone/>
            </a:pPr>
            <a:r>
              <a:rPr lang="en-US" sz="1800" kern="0" spc="180">
                <a:solidFill>
                  <a:srgbClr val="EF4444"/>
                </a:solidFill>
                <a:latin typeface="Arial" pitchFamily="34" charset="0"/>
                <a:ea typeface="Arial" pitchFamily="34" charset="-122"/>
                <a:cs typeface="Arial" pitchFamily="34" charset="-120"/>
              </a:rPr>
              <a:t>→ STEP 07</a:t>
            </a:r>
            <a:endParaRPr lang="en-US" sz="1800"/>
          </a:p>
        </p:txBody>
      </p:sp>
      <p:sp>
        <p:nvSpPr>
          <p:cNvPr id="45" name="Text 43"/>
          <p:cNvSpPr/>
          <p:nvPr/>
        </p:nvSpPr>
        <p:spPr>
          <a:xfrm>
            <a:off x="1191617" y="8117417"/>
            <a:ext cx="4988324" cy="408517"/>
          </a:xfrm>
          <a:prstGeom prst="rect">
            <a:avLst/>
          </a:prstGeom>
          <a:noFill/>
          <a:ln/>
        </p:spPr>
        <p:txBody>
          <a:bodyPr wrap="square" lIns="25400" tIns="25400" rIns="25400" bIns="25400" rtlCol="0" anchor="t">
            <a:normAutofit/>
          </a:bodyPr>
          <a:lstStyle/>
          <a:p>
            <a:pPr marL="0" indent="0" algn="l">
              <a:buNone/>
            </a:pPr>
            <a:r>
              <a:rPr lang="en-US" sz="2250" b="1" kern="0" spc="-22">
                <a:solidFill>
                  <a:srgbClr val="E5E7EB"/>
                </a:solidFill>
                <a:latin typeface="Arial" pitchFamily="34" charset="0"/>
                <a:ea typeface="Arial" pitchFamily="34" charset="-122"/>
                <a:cs typeface="Arial" pitchFamily="34" charset="-120"/>
              </a:rPr>
              <a:t>Contact</a:t>
            </a:r>
            <a:endParaRPr lang="en-US" sz="2250"/>
          </a:p>
        </p:txBody>
      </p:sp>
      <p:sp>
        <p:nvSpPr>
          <p:cNvPr id="46" name="Text 44"/>
          <p:cNvSpPr/>
          <p:nvPr/>
        </p:nvSpPr>
        <p:spPr>
          <a:xfrm>
            <a:off x="1191617" y="8639969"/>
            <a:ext cx="4988324" cy="700551"/>
          </a:xfrm>
          <a:prstGeom prst="rect">
            <a:avLst/>
          </a:prstGeom>
          <a:noFill/>
          <a:ln/>
        </p:spPr>
        <p:txBody>
          <a:bodyPr wrap="square" lIns="25400" tIns="25400" rIns="25400" bIns="25400" rtlCol="0" anchor="t">
            <a:normAutofit/>
          </a:bodyPr>
          <a:lstStyle/>
          <a:p>
            <a:pPr marL="0" indent="0" algn="l">
              <a:lnSpc>
                <a:spcPct val="145000"/>
              </a:lnSpc>
              <a:buNone/>
            </a:pPr>
            <a:r>
              <a:rPr lang="en-US" sz="1800">
                <a:solidFill>
                  <a:srgbClr val="94A3B8"/>
                </a:solidFill>
                <a:latin typeface="Arial" pitchFamily="34" charset="0"/>
                <a:ea typeface="Arial" pitchFamily="34" charset="-122"/>
                <a:cs typeface="Arial" pitchFamily="34" charset="-120"/>
              </a:rPr>
              <a:t>Trigger validation errors, then submit for confetti.</a:t>
            </a:r>
            <a:endParaRPr lang="en-US" sz="1800"/>
          </a:p>
        </p:txBody>
      </p:sp>
      <p:sp>
        <p:nvSpPr>
          <p:cNvPr id="47" name="Shape 45"/>
          <p:cNvSpPr/>
          <p:nvPr/>
        </p:nvSpPr>
        <p:spPr>
          <a:xfrm>
            <a:off x="1191617" y="9378487"/>
            <a:ext cx="4843033" cy="10583"/>
          </a:xfrm>
          <a:prstGeom prst="rect">
            <a:avLst/>
          </a:prstGeom>
          <a:solidFill>
            <a:srgbClr val="1F2937"/>
          </a:solidFill>
          <a:ln/>
        </p:spPr>
        <p:txBody>
          <a:bodyPr/>
          <a:lstStyle/>
          <a:p>
            <a:endParaRPr lang="en-US"/>
          </a:p>
        </p:txBody>
      </p:sp>
      <p:sp>
        <p:nvSpPr>
          <p:cNvPr id="49" name="Shape 47"/>
          <p:cNvSpPr/>
          <p:nvPr/>
        </p:nvSpPr>
        <p:spPr>
          <a:xfrm>
            <a:off x="6483284" y="7489032"/>
            <a:ext cx="5321267" cy="1845469"/>
          </a:xfrm>
          <a:prstGeom prst="roundRect">
            <a:avLst>
              <a:gd name="adj" fmla="val 7226"/>
            </a:avLst>
          </a:prstGeom>
          <a:solidFill>
            <a:srgbClr val="111827"/>
          </a:solidFill>
          <a:ln w="10583">
            <a:solidFill>
              <a:srgbClr val="1F2937"/>
            </a:solidFill>
            <a:prstDash val="solid"/>
          </a:ln>
        </p:spPr>
        <p:txBody>
          <a:bodyPr/>
          <a:lstStyle/>
          <a:p>
            <a:endParaRPr lang="en-US"/>
          </a:p>
        </p:txBody>
      </p:sp>
      <p:sp>
        <p:nvSpPr>
          <p:cNvPr id="50" name="Text 48"/>
          <p:cNvSpPr/>
          <p:nvPr/>
        </p:nvSpPr>
        <p:spPr>
          <a:xfrm>
            <a:off x="6722401" y="7728149"/>
            <a:ext cx="4988324" cy="313267"/>
          </a:xfrm>
          <a:prstGeom prst="rect">
            <a:avLst/>
          </a:prstGeom>
          <a:noFill/>
          <a:ln/>
        </p:spPr>
        <p:txBody>
          <a:bodyPr wrap="square" lIns="25400" tIns="25400" rIns="25400" bIns="25400" rtlCol="0" anchor="t">
            <a:normAutofit lnSpcReduction="10000"/>
          </a:bodyPr>
          <a:lstStyle/>
          <a:p>
            <a:pPr marL="0" indent="0" algn="l">
              <a:buNone/>
            </a:pPr>
            <a:r>
              <a:rPr lang="en-US" sz="1800" kern="0" spc="180">
                <a:solidFill>
                  <a:srgbClr val="EF4444"/>
                </a:solidFill>
                <a:latin typeface="Arial" pitchFamily="34" charset="0"/>
                <a:ea typeface="Arial" pitchFamily="34" charset="-122"/>
                <a:cs typeface="Arial" pitchFamily="34" charset="-120"/>
              </a:rPr>
              <a:t>→ STEP 08</a:t>
            </a:r>
            <a:endParaRPr lang="en-US" sz="1800"/>
          </a:p>
        </p:txBody>
      </p:sp>
      <p:sp>
        <p:nvSpPr>
          <p:cNvPr id="51" name="Text 49"/>
          <p:cNvSpPr/>
          <p:nvPr/>
        </p:nvSpPr>
        <p:spPr>
          <a:xfrm>
            <a:off x="6722401" y="8117417"/>
            <a:ext cx="4988324" cy="408517"/>
          </a:xfrm>
          <a:prstGeom prst="rect">
            <a:avLst/>
          </a:prstGeom>
          <a:noFill/>
          <a:ln/>
        </p:spPr>
        <p:txBody>
          <a:bodyPr wrap="square" lIns="25400" tIns="25400" rIns="25400" bIns="25400" rtlCol="0" anchor="t">
            <a:normAutofit/>
          </a:bodyPr>
          <a:lstStyle/>
          <a:p>
            <a:pPr marL="0" indent="0" algn="l">
              <a:buNone/>
            </a:pPr>
            <a:r>
              <a:rPr lang="en-US" sz="2250" b="1" kern="0" spc="-22">
                <a:solidFill>
                  <a:srgbClr val="E5E7EB"/>
                </a:solidFill>
                <a:latin typeface="Arial" pitchFamily="34" charset="0"/>
                <a:ea typeface="Arial" pitchFamily="34" charset="-122"/>
                <a:cs typeface="Arial" pitchFamily="34" charset="-120"/>
              </a:rPr>
              <a:t>Easter Egg</a:t>
            </a:r>
            <a:endParaRPr lang="en-US" sz="2250"/>
          </a:p>
        </p:txBody>
      </p:sp>
      <p:sp>
        <p:nvSpPr>
          <p:cNvPr id="52" name="Text 50"/>
          <p:cNvSpPr/>
          <p:nvPr/>
        </p:nvSpPr>
        <p:spPr>
          <a:xfrm>
            <a:off x="6722401" y="8639969"/>
            <a:ext cx="4988324" cy="369325"/>
          </a:xfrm>
          <a:prstGeom prst="rect">
            <a:avLst/>
          </a:prstGeom>
          <a:noFill/>
          <a:ln/>
        </p:spPr>
        <p:txBody>
          <a:bodyPr wrap="square" lIns="25400" tIns="25400" rIns="25400" bIns="25400" rtlCol="0" anchor="t">
            <a:normAutofit fontScale="92500" lnSpcReduction="10000"/>
          </a:bodyPr>
          <a:lstStyle/>
          <a:p>
            <a:pPr marL="0" indent="0" algn="l">
              <a:lnSpc>
                <a:spcPct val="145000"/>
              </a:lnSpc>
              <a:buNone/>
            </a:pPr>
            <a:r>
              <a:rPr lang="en-US" sz="1800">
                <a:solidFill>
                  <a:srgbClr val="94A3B8"/>
                </a:solidFill>
                <a:latin typeface="Arial" pitchFamily="34" charset="0"/>
                <a:ea typeface="Arial" pitchFamily="34" charset="-122"/>
                <a:cs typeface="Arial" pitchFamily="34" charset="-120"/>
              </a:rPr>
              <a:t>Konami code: ↑ ↑ ↓ ↓ ← → ← → B A.</a:t>
            </a:r>
            <a:endParaRPr lang="en-US" sz="1800"/>
          </a:p>
        </p:txBody>
      </p:sp>
      <p:sp>
        <p:nvSpPr>
          <p:cNvPr id="53" name="Shape 51"/>
          <p:cNvSpPr/>
          <p:nvPr/>
        </p:nvSpPr>
        <p:spPr>
          <a:xfrm>
            <a:off x="6722401" y="9047262"/>
            <a:ext cx="4843033" cy="10583"/>
          </a:xfrm>
          <a:prstGeom prst="rect">
            <a:avLst/>
          </a:prstGeom>
          <a:solidFill>
            <a:srgbClr val="1F2937"/>
          </a:solidFill>
          <a:ln/>
        </p:spPr>
        <p:txBody>
          <a:bodyPr/>
          <a:lstStyle/>
          <a:p>
            <a:endParaRPr lang="en-US"/>
          </a:p>
        </p:txBody>
      </p:sp>
      <p:sp>
        <p:nvSpPr>
          <p:cNvPr id="55" name="Shape 53"/>
          <p:cNvSpPr/>
          <p:nvPr/>
        </p:nvSpPr>
        <p:spPr>
          <a:xfrm>
            <a:off x="12014068" y="7489032"/>
            <a:ext cx="5321433" cy="1845469"/>
          </a:xfrm>
          <a:prstGeom prst="roundRect">
            <a:avLst>
              <a:gd name="adj" fmla="val 7226"/>
            </a:avLst>
          </a:prstGeom>
          <a:solidFill>
            <a:srgbClr val="111827"/>
          </a:solidFill>
          <a:ln w="10583">
            <a:solidFill>
              <a:srgbClr val="1F2937"/>
            </a:solidFill>
            <a:prstDash val="solid"/>
          </a:ln>
        </p:spPr>
        <p:txBody>
          <a:bodyPr/>
          <a:lstStyle/>
          <a:p>
            <a:endParaRPr lang="en-US"/>
          </a:p>
        </p:txBody>
      </p:sp>
      <p:sp>
        <p:nvSpPr>
          <p:cNvPr id="56" name="Text 54"/>
          <p:cNvSpPr/>
          <p:nvPr/>
        </p:nvSpPr>
        <p:spPr>
          <a:xfrm>
            <a:off x="12253186" y="7728149"/>
            <a:ext cx="4988494" cy="313267"/>
          </a:xfrm>
          <a:prstGeom prst="rect">
            <a:avLst/>
          </a:prstGeom>
          <a:noFill/>
          <a:ln/>
        </p:spPr>
        <p:txBody>
          <a:bodyPr wrap="square" lIns="25400" tIns="25400" rIns="25400" bIns="25400" rtlCol="0" anchor="t">
            <a:normAutofit lnSpcReduction="10000"/>
          </a:bodyPr>
          <a:lstStyle/>
          <a:p>
            <a:pPr marL="0" indent="0" algn="l">
              <a:buNone/>
            </a:pPr>
            <a:r>
              <a:rPr lang="en-US" sz="1800" kern="0" spc="180">
                <a:solidFill>
                  <a:srgbClr val="EF4444"/>
                </a:solidFill>
                <a:latin typeface="Arial" pitchFamily="34" charset="0"/>
                <a:ea typeface="Arial" pitchFamily="34" charset="-122"/>
                <a:cs typeface="Arial" pitchFamily="34" charset="-120"/>
              </a:rPr>
              <a:t>→ STEP 09</a:t>
            </a:r>
            <a:endParaRPr lang="en-US" sz="1800"/>
          </a:p>
        </p:txBody>
      </p:sp>
      <p:sp>
        <p:nvSpPr>
          <p:cNvPr id="57" name="Text 55"/>
          <p:cNvSpPr/>
          <p:nvPr/>
        </p:nvSpPr>
        <p:spPr>
          <a:xfrm>
            <a:off x="12253186" y="8117417"/>
            <a:ext cx="4988494" cy="408517"/>
          </a:xfrm>
          <a:prstGeom prst="rect">
            <a:avLst/>
          </a:prstGeom>
          <a:noFill/>
          <a:ln/>
        </p:spPr>
        <p:txBody>
          <a:bodyPr wrap="square" lIns="25400" tIns="25400" rIns="25400" bIns="25400" rtlCol="0" anchor="t">
            <a:normAutofit/>
          </a:bodyPr>
          <a:lstStyle/>
          <a:p>
            <a:pPr marL="0" indent="0" algn="l">
              <a:buNone/>
            </a:pPr>
            <a:r>
              <a:rPr lang="en-US" sz="2250" b="1" kern="0" spc="-22">
                <a:solidFill>
                  <a:srgbClr val="E5E7EB"/>
                </a:solidFill>
                <a:latin typeface="Arial" pitchFamily="34" charset="0"/>
                <a:ea typeface="Arial" pitchFamily="34" charset="-122"/>
                <a:cs typeface="Arial" pitchFamily="34" charset="-120"/>
              </a:rPr>
              <a:t>Responsive</a:t>
            </a:r>
            <a:endParaRPr lang="en-US" sz="2250"/>
          </a:p>
        </p:txBody>
      </p:sp>
      <p:sp>
        <p:nvSpPr>
          <p:cNvPr id="58" name="Text 56"/>
          <p:cNvSpPr/>
          <p:nvPr/>
        </p:nvSpPr>
        <p:spPr>
          <a:xfrm>
            <a:off x="12253186" y="8639969"/>
            <a:ext cx="4988494" cy="369325"/>
          </a:xfrm>
          <a:prstGeom prst="rect">
            <a:avLst/>
          </a:prstGeom>
          <a:noFill/>
          <a:ln/>
        </p:spPr>
        <p:txBody>
          <a:bodyPr wrap="square" lIns="25400" tIns="25400" rIns="25400" bIns="25400" rtlCol="0" anchor="t">
            <a:normAutofit fontScale="92500" lnSpcReduction="10000"/>
          </a:bodyPr>
          <a:lstStyle/>
          <a:p>
            <a:pPr marL="0" indent="0" algn="l">
              <a:lnSpc>
                <a:spcPct val="145000"/>
              </a:lnSpc>
              <a:buNone/>
            </a:pPr>
            <a:r>
              <a:rPr lang="en-US" sz="1800">
                <a:solidFill>
                  <a:srgbClr val="94A3B8"/>
                </a:solidFill>
                <a:latin typeface="Arial" pitchFamily="34" charset="0"/>
                <a:ea typeface="Arial" pitchFamily="34" charset="-122"/>
                <a:cs typeface="Arial" pitchFamily="34" charset="-120"/>
              </a:rPr>
              <a:t>DevTools mobile view to show breakpoints.</a:t>
            </a:r>
            <a:endParaRPr lang="en-US" sz="1800"/>
          </a:p>
        </p:txBody>
      </p:sp>
      <p:sp>
        <p:nvSpPr>
          <p:cNvPr id="59" name="Shape 57"/>
          <p:cNvSpPr/>
          <p:nvPr/>
        </p:nvSpPr>
        <p:spPr>
          <a:xfrm>
            <a:off x="12253186" y="9047262"/>
            <a:ext cx="4843198" cy="10583"/>
          </a:xfrm>
          <a:prstGeom prst="rect">
            <a:avLst/>
          </a:prstGeom>
          <a:solidFill>
            <a:srgbClr val="1F2937"/>
          </a:solidFill>
          <a:ln/>
        </p:spPr>
        <p:txBody>
          <a:bodyPr/>
          <a:lstStyle/>
          <a:p>
            <a:endParaRPr lang="en-US"/>
          </a:p>
        </p:txBody>
      </p:sp>
      <p:sp>
        <p:nvSpPr>
          <p:cNvPr id="62" name="Text 60"/>
          <p:cNvSpPr/>
          <p:nvPr/>
        </p:nvSpPr>
        <p:spPr>
          <a:xfrm>
            <a:off x="16508678" y="9554766"/>
            <a:ext cx="903023" cy="313267"/>
          </a:xfrm>
          <a:prstGeom prst="rect">
            <a:avLst/>
          </a:prstGeom>
          <a:noFill/>
          <a:ln/>
        </p:spPr>
        <p:txBody>
          <a:bodyPr wrap="square" lIns="25400" tIns="25400" rIns="25400" bIns="25400" rtlCol="0" anchor="t">
            <a:normAutofit lnSpcReduction="10000"/>
          </a:bodyPr>
          <a:lstStyle/>
          <a:p>
            <a:pPr marL="0" indent="0" algn="l">
              <a:buNone/>
            </a:pPr>
            <a:r>
              <a:rPr lang="en-US" sz="1800" kern="0" spc="144">
                <a:solidFill>
                  <a:srgbClr val="64748B"/>
                </a:solidFill>
                <a:latin typeface="Arial" pitchFamily="34" charset="0"/>
                <a:ea typeface="Arial" pitchFamily="34" charset="-122"/>
                <a:cs typeface="Arial" pitchFamily="34" charset="-120"/>
              </a:rPr>
              <a:t>03 / 06</a:t>
            </a:r>
            <a:endParaRPr lang="en-US" sz="18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0E1A"/>
        </a:solidFill>
        <a:effectLst/>
      </p:bgPr>
    </p:bg>
    <p:spTree>
      <p:nvGrpSpPr>
        <p:cNvPr id="1" name=""/>
        <p:cNvGrpSpPr/>
        <p:nvPr/>
      </p:nvGrpSpPr>
      <p:grpSpPr>
        <a:xfrm>
          <a:off x="0" y="0"/>
          <a:ext cx="0" cy="0"/>
          <a:chOff x="0" y="0"/>
          <a:chExt cx="0" cy="0"/>
        </a:xfrm>
      </p:grpSpPr>
      <p:sp>
        <p:nvSpPr>
          <p:cNvPr id="2" name="Shape 0"/>
          <p:cNvSpPr/>
          <p:nvPr/>
        </p:nvSpPr>
        <p:spPr>
          <a:xfrm>
            <a:off x="457068" y="457068"/>
            <a:ext cx="696350" cy="10583"/>
          </a:xfrm>
          <a:prstGeom prst="rect">
            <a:avLst/>
          </a:prstGeom>
          <a:solidFill>
            <a:srgbClr val="EF4444"/>
          </a:solidFill>
          <a:ln/>
        </p:spPr>
        <p:txBody>
          <a:bodyPr/>
          <a:lstStyle/>
          <a:p>
            <a:endParaRPr lang="en-US"/>
          </a:p>
        </p:txBody>
      </p:sp>
      <p:sp>
        <p:nvSpPr>
          <p:cNvPr id="3" name="Shape 1"/>
          <p:cNvSpPr/>
          <p:nvPr/>
        </p:nvSpPr>
        <p:spPr>
          <a:xfrm>
            <a:off x="457068" y="457068"/>
            <a:ext cx="10583" cy="696350"/>
          </a:xfrm>
          <a:prstGeom prst="rect">
            <a:avLst/>
          </a:prstGeom>
          <a:solidFill>
            <a:srgbClr val="EF4444"/>
          </a:solidFill>
          <a:ln/>
        </p:spPr>
        <p:txBody>
          <a:bodyPr/>
          <a:lstStyle/>
          <a:p>
            <a:endParaRPr lang="en-US"/>
          </a:p>
        </p:txBody>
      </p:sp>
      <p:sp>
        <p:nvSpPr>
          <p:cNvPr id="4" name="Text 2"/>
          <p:cNvSpPr/>
          <p:nvPr/>
        </p:nvSpPr>
        <p:spPr>
          <a:xfrm>
            <a:off x="952500" y="952500"/>
            <a:ext cx="16874491" cy="334433"/>
          </a:xfrm>
          <a:prstGeom prst="rect">
            <a:avLst/>
          </a:prstGeom>
          <a:noFill/>
          <a:ln/>
        </p:spPr>
        <p:txBody>
          <a:bodyPr wrap="square" lIns="25400" tIns="25400" rIns="25400" bIns="25400" rtlCol="0" anchor="ctr">
            <a:normAutofit/>
          </a:bodyPr>
          <a:lstStyle/>
          <a:p>
            <a:pPr marL="0" indent="0" algn="l">
              <a:buNone/>
            </a:pPr>
            <a:r>
              <a:rPr lang="en-US" sz="1800" kern="0" spc="324">
                <a:solidFill>
                  <a:srgbClr val="EF4444"/>
                </a:solidFill>
                <a:latin typeface="Arial" pitchFamily="34" charset="0"/>
                <a:ea typeface="Arial" pitchFamily="34" charset="-122"/>
                <a:cs typeface="Arial" pitchFamily="34" charset="-120"/>
              </a:rPr>
              <a:t>03 / STACK</a:t>
            </a:r>
            <a:endParaRPr lang="en-US" sz="1800"/>
          </a:p>
        </p:txBody>
      </p:sp>
      <p:sp>
        <p:nvSpPr>
          <p:cNvPr id="5" name="Text 3"/>
          <p:cNvSpPr/>
          <p:nvPr/>
        </p:nvSpPr>
        <p:spPr>
          <a:xfrm>
            <a:off x="952500" y="1439333"/>
            <a:ext cx="16874491" cy="708488"/>
          </a:xfrm>
          <a:prstGeom prst="rect">
            <a:avLst/>
          </a:prstGeom>
          <a:noFill/>
          <a:ln/>
        </p:spPr>
        <p:txBody>
          <a:bodyPr wrap="square" lIns="25400" tIns="25400" rIns="25400" bIns="25400" rtlCol="0" anchor="t">
            <a:normAutofit fontScale="92500" lnSpcReduction="20000"/>
          </a:bodyPr>
          <a:lstStyle/>
          <a:p>
            <a:pPr marL="0" indent="0" algn="l">
              <a:lnSpc>
                <a:spcPct val="110000"/>
              </a:lnSpc>
              <a:buNone/>
            </a:pPr>
            <a:r>
              <a:rPr lang="en-US" sz="4800" b="1" kern="0" spc="-96">
                <a:solidFill>
                  <a:srgbClr val="E5E7EB"/>
                </a:solidFill>
                <a:latin typeface="Arial" pitchFamily="34" charset="0"/>
                <a:ea typeface="Arial" pitchFamily="34" charset="-122"/>
                <a:cs typeface="Arial" pitchFamily="34" charset="-120"/>
              </a:rPr>
              <a:t>Tech Stack &amp; AI Tools</a:t>
            </a:r>
            <a:endParaRPr lang="en-US" sz="4800"/>
          </a:p>
        </p:txBody>
      </p:sp>
      <p:sp>
        <p:nvSpPr>
          <p:cNvPr id="6" name="Text 4"/>
          <p:cNvSpPr/>
          <p:nvPr/>
        </p:nvSpPr>
        <p:spPr>
          <a:xfrm>
            <a:off x="952500" y="2528755"/>
            <a:ext cx="15138400" cy="977040"/>
          </a:xfrm>
          <a:prstGeom prst="rect">
            <a:avLst/>
          </a:prstGeom>
          <a:noFill/>
          <a:ln/>
        </p:spPr>
        <p:txBody>
          <a:bodyPr wrap="square" lIns="25400" tIns="25400" rIns="25400" bIns="25400" rtlCol="0" anchor="t">
            <a:normAutofit/>
          </a:bodyPr>
          <a:lstStyle/>
          <a:p>
            <a:pPr marL="0" indent="0" algn="l">
              <a:lnSpc>
                <a:spcPct val="145000"/>
              </a:lnSpc>
              <a:buNone/>
            </a:pPr>
            <a:r>
              <a:rPr lang="en-US" sz="2550">
                <a:solidFill>
                  <a:srgbClr val="CBD5E1"/>
                </a:solidFill>
                <a:latin typeface="Arial" pitchFamily="34" charset="0"/>
                <a:ea typeface="Arial" pitchFamily="34" charset="-122"/>
                <a:cs typeface="Arial" pitchFamily="34" charset="-120"/>
              </a:rPr>
              <a:t>Vanilla web technologies for the build. AI assistants for acceleration, all output reviewed and modified.</a:t>
            </a:r>
            <a:endParaRPr lang="en-US" sz="2550"/>
          </a:p>
        </p:txBody>
      </p:sp>
      <p:sp>
        <p:nvSpPr>
          <p:cNvPr id="7" name="Shape 5"/>
          <p:cNvSpPr/>
          <p:nvPr/>
        </p:nvSpPr>
        <p:spPr>
          <a:xfrm>
            <a:off x="952500" y="4405148"/>
            <a:ext cx="7962966" cy="10583"/>
          </a:xfrm>
          <a:prstGeom prst="rect">
            <a:avLst/>
          </a:prstGeom>
          <a:solidFill>
            <a:srgbClr val="1F2937"/>
          </a:solidFill>
          <a:ln/>
        </p:spPr>
        <p:txBody>
          <a:bodyPr/>
          <a:lstStyle/>
          <a:p>
            <a:endParaRPr lang="en-US"/>
          </a:p>
        </p:txBody>
      </p:sp>
      <p:sp>
        <p:nvSpPr>
          <p:cNvPr id="8" name="Text 6"/>
          <p:cNvSpPr/>
          <p:nvPr/>
        </p:nvSpPr>
        <p:spPr>
          <a:xfrm>
            <a:off x="952500" y="3924763"/>
            <a:ext cx="8201855" cy="366084"/>
          </a:xfrm>
          <a:prstGeom prst="rect">
            <a:avLst/>
          </a:prstGeom>
          <a:noFill/>
          <a:ln/>
        </p:spPr>
        <p:txBody>
          <a:bodyPr wrap="square" lIns="25400" tIns="25400" rIns="25400" bIns="25400" rtlCol="0" anchor="t">
            <a:normAutofit/>
          </a:bodyPr>
          <a:lstStyle/>
          <a:p>
            <a:pPr marL="0" indent="0" algn="l">
              <a:buNone/>
            </a:pPr>
            <a:r>
              <a:rPr lang="en-US" sz="1950" kern="0" spc="234">
                <a:solidFill>
                  <a:srgbClr val="EF4444"/>
                </a:solidFill>
                <a:latin typeface="Arial" pitchFamily="34" charset="0"/>
                <a:ea typeface="Arial" pitchFamily="34" charset="-122"/>
                <a:cs typeface="Arial" pitchFamily="34" charset="-120"/>
              </a:rPr>
              <a:t>// TECH STACK</a:t>
            </a:r>
            <a:endParaRPr lang="en-US" sz="1950"/>
          </a:p>
        </p:txBody>
      </p:sp>
      <p:sp>
        <p:nvSpPr>
          <p:cNvPr id="9" name="Shape 7"/>
          <p:cNvSpPr/>
          <p:nvPr/>
        </p:nvSpPr>
        <p:spPr>
          <a:xfrm>
            <a:off x="952500" y="4682299"/>
            <a:ext cx="7962966" cy="859234"/>
          </a:xfrm>
          <a:prstGeom prst="roundRect">
            <a:avLst>
              <a:gd name="adj" fmla="val 13303"/>
            </a:avLst>
          </a:prstGeom>
          <a:solidFill>
            <a:srgbClr val="111827"/>
          </a:solidFill>
          <a:ln w="10583">
            <a:solidFill>
              <a:srgbClr val="1F2937"/>
            </a:solidFill>
            <a:prstDash val="solid"/>
          </a:ln>
        </p:spPr>
        <p:txBody>
          <a:bodyPr/>
          <a:lstStyle/>
          <a:p>
            <a:endParaRPr lang="en-US"/>
          </a:p>
        </p:txBody>
      </p:sp>
      <p:sp>
        <p:nvSpPr>
          <p:cNvPr id="10" name="Shape 8"/>
          <p:cNvSpPr/>
          <p:nvPr/>
        </p:nvSpPr>
        <p:spPr>
          <a:xfrm>
            <a:off x="1191617" y="4902398"/>
            <a:ext cx="419034" cy="419034"/>
          </a:xfrm>
          <a:prstGeom prst="roundRect">
            <a:avLst>
              <a:gd name="adj" fmla="val 22731"/>
            </a:avLst>
          </a:prstGeom>
          <a:solidFill>
            <a:srgbClr val="EF4444">
              <a:alpha val="12000"/>
            </a:srgbClr>
          </a:solidFill>
          <a:ln/>
        </p:spPr>
        <p:txBody>
          <a:bodyPr/>
          <a:lstStyle/>
          <a:p>
            <a:endParaRPr lang="en-US"/>
          </a:p>
        </p:txBody>
      </p:sp>
      <p:pic>
        <p:nvPicPr>
          <p:cNvPr id="11" name="Image 0" descr="preencoded.png"/>
          <p:cNvPicPr>
            <a:picLocks noChangeAspect="1"/>
          </p:cNvPicPr>
          <p:nvPr/>
        </p:nvPicPr>
        <p:blipFill>
          <a:blip r:embed="rId3">
            <a:duotone>
              <a:schemeClr val="accent2">
                <a:shade val="45000"/>
                <a:satMod val="135000"/>
              </a:schemeClr>
              <a:prstClr val="white"/>
            </a:duotone>
          </a:blip>
          <a:stretch>
            <a:fillRect/>
          </a:stretch>
        </p:blipFill>
        <p:spPr>
          <a:xfrm>
            <a:off x="1296293" y="5007075"/>
            <a:ext cx="209517" cy="209517"/>
          </a:xfrm>
          <a:prstGeom prst="rect">
            <a:avLst/>
          </a:prstGeom>
        </p:spPr>
      </p:pic>
      <p:sp>
        <p:nvSpPr>
          <p:cNvPr id="12" name="Text 9"/>
          <p:cNvSpPr/>
          <p:nvPr/>
        </p:nvSpPr>
        <p:spPr>
          <a:xfrm>
            <a:off x="1801151" y="4953166"/>
            <a:ext cx="2721972" cy="355600"/>
          </a:xfrm>
          <a:prstGeom prst="rect">
            <a:avLst/>
          </a:prstGeom>
          <a:noFill/>
          <a:ln/>
        </p:spPr>
        <p:txBody>
          <a:bodyPr wrap="square" lIns="25400" tIns="25400" rIns="25400" bIns="25400" rtlCol="0" anchor="t">
            <a:normAutofit/>
          </a:bodyPr>
          <a:lstStyle/>
          <a:p>
            <a:pPr marL="0" indent="0" algn="l">
              <a:buNone/>
            </a:pPr>
            <a:r>
              <a:rPr lang="en-US" sz="1950">
                <a:solidFill>
                  <a:srgbClr val="E5E7EB"/>
                </a:solidFill>
                <a:latin typeface="Arial" pitchFamily="34" charset="0"/>
                <a:ea typeface="Arial" pitchFamily="34" charset="-122"/>
                <a:cs typeface="Arial" pitchFamily="34" charset="-120"/>
              </a:rPr>
              <a:t>HTML, CSS, JavaScript</a:t>
            </a:r>
            <a:endParaRPr lang="en-US" sz="1950"/>
          </a:p>
        </p:txBody>
      </p:sp>
      <p:sp>
        <p:nvSpPr>
          <p:cNvPr id="13" name="Text 10"/>
          <p:cNvSpPr/>
          <p:nvPr/>
        </p:nvSpPr>
        <p:spPr>
          <a:xfrm>
            <a:off x="8028451" y="4974332"/>
            <a:ext cx="724098" cy="313267"/>
          </a:xfrm>
          <a:prstGeom prst="rect">
            <a:avLst/>
          </a:prstGeom>
          <a:noFill/>
          <a:ln/>
        </p:spPr>
        <p:txBody>
          <a:bodyPr wrap="square" lIns="25400" tIns="25400" rIns="25400" bIns="25400" rtlCol="0" anchor="t">
            <a:normAutofit lnSpcReduction="10000"/>
          </a:bodyPr>
          <a:lstStyle/>
          <a:p>
            <a:pPr marL="0" indent="0" algn="l">
              <a:buNone/>
            </a:pPr>
            <a:r>
              <a:rPr lang="en-US" sz="1800">
                <a:solidFill>
                  <a:srgbClr val="94A3B8"/>
                </a:solidFill>
                <a:latin typeface="Arial" pitchFamily="34" charset="0"/>
                <a:ea typeface="Arial" pitchFamily="34" charset="-122"/>
                <a:cs typeface="Arial" pitchFamily="34" charset="-120"/>
              </a:rPr>
              <a:t>vanilla</a:t>
            </a:r>
            <a:endParaRPr lang="en-US" sz="1800"/>
          </a:p>
        </p:txBody>
      </p:sp>
      <p:sp>
        <p:nvSpPr>
          <p:cNvPr id="14" name="Shape 11"/>
          <p:cNvSpPr/>
          <p:nvPr/>
        </p:nvSpPr>
        <p:spPr>
          <a:xfrm>
            <a:off x="952500" y="5712851"/>
            <a:ext cx="7962966" cy="859234"/>
          </a:xfrm>
          <a:prstGeom prst="roundRect">
            <a:avLst>
              <a:gd name="adj" fmla="val 13303"/>
            </a:avLst>
          </a:prstGeom>
          <a:solidFill>
            <a:srgbClr val="111827"/>
          </a:solidFill>
          <a:ln w="10583">
            <a:solidFill>
              <a:srgbClr val="1F2937"/>
            </a:solidFill>
            <a:prstDash val="solid"/>
          </a:ln>
        </p:spPr>
        <p:txBody>
          <a:bodyPr/>
          <a:lstStyle/>
          <a:p>
            <a:endParaRPr lang="en-US"/>
          </a:p>
        </p:txBody>
      </p:sp>
      <p:sp>
        <p:nvSpPr>
          <p:cNvPr id="15" name="Shape 12"/>
          <p:cNvSpPr/>
          <p:nvPr/>
        </p:nvSpPr>
        <p:spPr>
          <a:xfrm>
            <a:off x="1191617" y="5932951"/>
            <a:ext cx="419034" cy="419034"/>
          </a:xfrm>
          <a:prstGeom prst="roundRect">
            <a:avLst>
              <a:gd name="adj" fmla="val 22731"/>
            </a:avLst>
          </a:prstGeom>
          <a:solidFill>
            <a:srgbClr val="EF4444">
              <a:alpha val="12000"/>
            </a:srgbClr>
          </a:solidFill>
          <a:ln/>
        </p:spPr>
        <p:txBody>
          <a:bodyPr/>
          <a:lstStyle/>
          <a:p>
            <a:endParaRPr lang="en-US"/>
          </a:p>
        </p:txBody>
      </p:sp>
      <p:pic>
        <p:nvPicPr>
          <p:cNvPr id="16" name="Image 1" descr="preencoded.png"/>
          <p:cNvPicPr>
            <a:picLocks noChangeAspect="1"/>
          </p:cNvPicPr>
          <p:nvPr/>
        </p:nvPicPr>
        <p:blipFill>
          <a:blip r:embed="rId4">
            <a:duotone>
              <a:schemeClr val="accent2">
                <a:shade val="45000"/>
                <a:satMod val="135000"/>
              </a:schemeClr>
              <a:prstClr val="white"/>
            </a:duotone>
          </a:blip>
          <a:stretch>
            <a:fillRect/>
          </a:stretch>
        </p:blipFill>
        <p:spPr>
          <a:xfrm>
            <a:off x="1296293" y="6037627"/>
            <a:ext cx="209517" cy="209517"/>
          </a:xfrm>
          <a:prstGeom prst="rect">
            <a:avLst/>
          </a:prstGeom>
        </p:spPr>
      </p:pic>
      <p:sp>
        <p:nvSpPr>
          <p:cNvPr id="17" name="Text 13"/>
          <p:cNvSpPr/>
          <p:nvPr/>
        </p:nvSpPr>
        <p:spPr>
          <a:xfrm>
            <a:off x="1801151" y="5983718"/>
            <a:ext cx="2488539" cy="355600"/>
          </a:xfrm>
          <a:prstGeom prst="rect">
            <a:avLst/>
          </a:prstGeom>
          <a:noFill/>
          <a:ln/>
        </p:spPr>
        <p:txBody>
          <a:bodyPr wrap="square" lIns="25400" tIns="25400" rIns="25400" bIns="25400" rtlCol="0" anchor="t">
            <a:normAutofit/>
          </a:bodyPr>
          <a:lstStyle/>
          <a:p>
            <a:pPr marL="0" indent="0" algn="l">
              <a:buNone/>
            </a:pPr>
            <a:r>
              <a:rPr lang="en-US" sz="1950">
                <a:solidFill>
                  <a:srgbClr val="E5E7EB"/>
                </a:solidFill>
                <a:latin typeface="Arial" pitchFamily="34" charset="0"/>
                <a:ea typeface="Arial" pitchFamily="34" charset="-122"/>
                <a:cs typeface="Arial" pitchFamily="34" charset="-120"/>
              </a:rPr>
              <a:t>GSAP + ScrollTrigger</a:t>
            </a:r>
            <a:endParaRPr lang="en-US" sz="1950"/>
          </a:p>
        </p:txBody>
      </p:sp>
      <p:sp>
        <p:nvSpPr>
          <p:cNvPr id="18" name="Text 14"/>
          <p:cNvSpPr/>
          <p:nvPr/>
        </p:nvSpPr>
        <p:spPr>
          <a:xfrm>
            <a:off x="7571218" y="6004885"/>
            <a:ext cx="1181332" cy="313267"/>
          </a:xfrm>
          <a:prstGeom prst="rect">
            <a:avLst/>
          </a:prstGeom>
          <a:noFill/>
          <a:ln/>
        </p:spPr>
        <p:txBody>
          <a:bodyPr wrap="square" lIns="25400" tIns="25400" rIns="25400" bIns="25400" rtlCol="0" anchor="t">
            <a:normAutofit lnSpcReduction="10000"/>
          </a:bodyPr>
          <a:lstStyle/>
          <a:p>
            <a:pPr marL="0" indent="0" algn="l">
              <a:buNone/>
            </a:pPr>
            <a:r>
              <a:rPr lang="en-US" sz="1800">
                <a:solidFill>
                  <a:srgbClr val="94A3B8"/>
                </a:solidFill>
                <a:latin typeface="Arial" pitchFamily="34" charset="0"/>
                <a:ea typeface="Arial" pitchFamily="34" charset="-122"/>
                <a:cs typeface="Arial" pitchFamily="34" charset="-120"/>
              </a:rPr>
              <a:t>animations</a:t>
            </a:r>
            <a:endParaRPr lang="en-US" sz="1800"/>
          </a:p>
        </p:txBody>
      </p:sp>
      <p:sp>
        <p:nvSpPr>
          <p:cNvPr id="19" name="Shape 15"/>
          <p:cNvSpPr/>
          <p:nvPr/>
        </p:nvSpPr>
        <p:spPr>
          <a:xfrm>
            <a:off x="952500" y="6743403"/>
            <a:ext cx="7962966" cy="859234"/>
          </a:xfrm>
          <a:prstGeom prst="roundRect">
            <a:avLst>
              <a:gd name="adj" fmla="val 13303"/>
            </a:avLst>
          </a:prstGeom>
          <a:solidFill>
            <a:srgbClr val="111827"/>
          </a:solidFill>
          <a:ln w="10583">
            <a:solidFill>
              <a:srgbClr val="1F2937"/>
            </a:solidFill>
            <a:prstDash val="solid"/>
          </a:ln>
        </p:spPr>
        <p:txBody>
          <a:bodyPr/>
          <a:lstStyle/>
          <a:p>
            <a:endParaRPr lang="en-US"/>
          </a:p>
        </p:txBody>
      </p:sp>
      <p:sp>
        <p:nvSpPr>
          <p:cNvPr id="20" name="Shape 16"/>
          <p:cNvSpPr/>
          <p:nvPr/>
        </p:nvSpPr>
        <p:spPr>
          <a:xfrm>
            <a:off x="1191617" y="6914986"/>
            <a:ext cx="419034" cy="419034"/>
          </a:xfrm>
          <a:prstGeom prst="roundRect">
            <a:avLst>
              <a:gd name="adj" fmla="val 22731"/>
            </a:avLst>
          </a:prstGeom>
          <a:solidFill>
            <a:srgbClr val="EF4444">
              <a:alpha val="12000"/>
            </a:srgbClr>
          </a:solidFill>
          <a:ln/>
        </p:spPr>
        <p:txBody>
          <a:bodyPr/>
          <a:lstStyle/>
          <a:p>
            <a:endParaRPr lang="en-US"/>
          </a:p>
        </p:txBody>
      </p:sp>
      <p:pic>
        <p:nvPicPr>
          <p:cNvPr id="21" name="Image 2" descr="preencoded.png"/>
          <p:cNvPicPr>
            <a:picLocks noChangeAspect="1"/>
          </p:cNvPicPr>
          <p:nvPr/>
        </p:nvPicPr>
        <p:blipFill>
          <a:blip r:embed="rId5">
            <a:duotone>
              <a:schemeClr val="accent2">
                <a:shade val="45000"/>
                <a:satMod val="135000"/>
              </a:schemeClr>
              <a:prstClr val="white"/>
            </a:duotone>
          </a:blip>
          <a:stretch>
            <a:fillRect/>
          </a:stretch>
        </p:blipFill>
        <p:spPr>
          <a:xfrm>
            <a:off x="1296293" y="7035436"/>
            <a:ext cx="209517" cy="209517"/>
          </a:xfrm>
          <a:prstGeom prst="rect">
            <a:avLst/>
          </a:prstGeom>
        </p:spPr>
      </p:pic>
      <p:sp>
        <p:nvSpPr>
          <p:cNvPr id="22" name="Text 17"/>
          <p:cNvSpPr/>
          <p:nvPr/>
        </p:nvSpPr>
        <p:spPr>
          <a:xfrm>
            <a:off x="1801151" y="7014270"/>
            <a:ext cx="2639705" cy="355600"/>
          </a:xfrm>
          <a:prstGeom prst="rect">
            <a:avLst/>
          </a:prstGeom>
          <a:noFill/>
          <a:ln/>
        </p:spPr>
        <p:txBody>
          <a:bodyPr wrap="square" lIns="25400" tIns="25400" rIns="25400" bIns="25400" rtlCol="0" anchor="t">
            <a:normAutofit fontScale="92500"/>
          </a:bodyPr>
          <a:lstStyle/>
          <a:p>
            <a:pPr marL="0" indent="0" algn="l">
              <a:buNone/>
            </a:pPr>
            <a:r>
              <a:rPr lang="en-US" sz="1950">
                <a:solidFill>
                  <a:srgbClr val="E5E7EB"/>
                </a:solidFill>
                <a:latin typeface="Arial" pitchFamily="34" charset="0"/>
                <a:ea typeface="Arial" pitchFamily="34" charset="-122"/>
                <a:cs typeface="Arial" pitchFamily="34" charset="-120"/>
              </a:rPr>
              <a:t>GitHub · OMDb · RAWG</a:t>
            </a:r>
            <a:endParaRPr lang="en-US" sz="1950"/>
          </a:p>
        </p:txBody>
      </p:sp>
      <p:sp>
        <p:nvSpPr>
          <p:cNvPr id="23" name="Text 18"/>
          <p:cNvSpPr/>
          <p:nvPr/>
        </p:nvSpPr>
        <p:spPr>
          <a:xfrm>
            <a:off x="7609417" y="7035436"/>
            <a:ext cx="1143132" cy="313267"/>
          </a:xfrm>
          <a:prstGeom prst="rect">
            <a:avLst/>
          </a:prstGeom>
          <a:noFill/>
          <a:ln/>
        </p:spPr>
        <p:txBody>
          <a:bodyPr wrap="square" lIns="25400" tIns="25400" rIns="25400" bIns="25400" rtlCol="0" anchor="t">
            <a:normAutofit lnSpcReduction="10000"/>
          </a:bodyPr>
          <a:lstStyle/>
          <a:p>
            <a:pPr marL="0" indent="0" algn="l">
              <a:buNone/>
            </a:pPr>
            <a:r>
              <a:rPr lang="en-US" sz="1800">
                <a:solidFill>
                  <a:srgbClr val="94A3B8"/>
                </a:solidFill>
                <a:latin typeface="Arial" pitchFamily="34" charset="0"/>
                <a:ea typeface="Arial" pitchFamily="34" charset="-122"/>
                <a:cs typeface="Arial" pitchFamily="34" charset="-120"/>
              </a:rPr>
              <a:t>3 live APIs</a:t>
            </a:r>
            <a:endParaRPr lang="en-US" sz="1800"/>
          </a:p>
        </p:txBody>
      </p:sp>
      <p:sp>
        <p:nvSpPr>
          <p:cNvPr id="24" name="Shape 19"/>
          <p:cNvSpPr/>
          <p:nvPr/>
        </p:nvSpPr>
        <p:spPr>
          <a:xfrm>
            <a:off x="952500" y="7773955"/>
            <a:ext cx="7962966" cy="859234"/>
          </a:xfrm>
          <a:prstGeom prst="roundRect">
            <a:avLst>
              <a:gd name="adj" fmla="val 13303"/>
            </a:avLst>
          </a:prstGeom>
          <a:solidFill>
            <a:srgbClr val="111827"/>
          </a:solidFill>
          <a:ln w="10583">
            <a:solidFill>
              <a:srgbClr val="1F2937"/>
            </a:solidFill>
            <a:prstDash val="solid"/>
          </a:ln>
        </p:spPr>
        <p:txBody>
          <a:bodyPr/>
          <a:lstStyle/>
          <a:p>
            <a:endParaRPr lang="en-US"/>
          </a:p>
        </p:txBody>
      </p:sp>
      <p:sp>
        <p:nvSpPr>
          <p:cNvPr id="25" name="Shape 20"/>
          <p:cNvSpPr/>
          <p:nvPr/>
        </p:nvSpPr>
        <p:spPr>
          <a:xfrm>
            <a:off x="1191617" y="7994055"/>
            <a:ext cx="419034" cy="419034"/>
          </a:xfrm>
          <a:prstGeom prst="roundRect">
            <a:avLst>
              <a:gd name="adj" fmla="val 22731"/>
            </a:avLst>
          </a:prstGeom>
          <a:solidFill>
            <a:srgbClr val="EF4444">
              <a:alpha val="12000"/>
            </a:srgbClr>
          </a:solidFill>
          <a:ln/>
        </p:spPr>
        <p:txBody>
          <a:bodyPr/>
          <a:lstStyle/>
          <a:p>
            <a:endParaRPr lang="en-US"/>
          </a:p>
        </p:txBody>
      </p:sp>
      <p:pic>
        <p:nvPicPr>
          <p:cNvPr id="26" name="Image 3" descr="preencoded.png"/>
          <p:cNvPicPr>
            <a:picLocks noChangeAspect="1"/>
          </p:cNvPicPr>
          <p:nvPr/>
        </p:nvPicPr>
        <p:blipFill>
          <a:blip r:embed="rId6">
            <a:duotone>
              <a:schemeClr val="accent2">
                <a:shade val="45000"/>
                <a:satMod val="135000"/>
              </a:schemeClr>
              <a:prstClr val="white"/>
            </a:duotone>
          </a:blip>
          <a:stretch>
            <a:fillRect/>
          </a:stretch>
        </p:blipFill>
        <p:spPr>
          <a:xfrm>
            <a:off x="1296293" y="8098731"/>
            <a:ext cx="209517" cy="209517"/>
          </a:xfrm>
          <a:prstGeom prst="rect">
            <a:avLst/>
          </a:prstGeom>
        </p:spPr>
      </p:pic>
      <p:sp>
        <p:nvSpPr>
          <p:cNvPr id="27" name="Text 21"/>
          <p:cNvSpPr/>
          <p:nvPr/>
        </p:nvSpPr>
        <p:spPr>
          <a:xfrm>
            <a:off x="1801151" y="8044822"/>
            <a:ext cx="3694020" cy="355600"/>
          </a:xfrm>
          <a:prstGeom prst="rect">
            <a:avLst/>
          </a:prstGeom>
          <a:noFill/>
          <a:ln/>
        </p:spPr>
        <p:txBody>
          <a:bodyPr wrap="square" lIns="25400" tIns="25400" rIns="25400" bIns="25400" rtlCol="0" anchor="t">
            <a:normAutofit/>
          </a:bodyPr>
          <a:lstStyle/>
          <a:p>
            <a:pPr marL="0" indent="0" algn="l">
              <a:buNone/>
            </a:pPr>
            <a:r>
              <a:rPr lang="en-US" sz="1950">
                <a:solidFill>
                  <a:srgbClr val="E5E7EB"/>
                </a:solidFill>
                <a:latin typeface="Arial" pitchFamily="34" charset="0"/>
                <a:ea typeface="Arial" pitchFamily="34" charset="-122"/>
                <a:cs typeface="Arial" pitchFamily="34" charset="-120"/>
              </a:rPr>
              <a:t>localStorage / sessionStorage</a:t>
            </a:r>
            <a:endParaRPr lang="en-US" sz="1950"/>
          </a:p>
        </p:txBody>
      </p:sp>
      <p:sp>
        <p:nvSpPr>
          <p:cNvPr id="28" name="Text 22"/>
          <p:cNvSpPr/>
          <p:nvPr/>
        </p:nvSpPr>
        <p:spPr>
          <a:xfrm>
            <a:off x="8180917" y="8065988"/>
            <a:ext cx="571632" cy="313267"/>
          </a:xfrm>
          <a:prstGeom prst="rect">
            <a:avLst/>
          </a:prstGeom>
          <a:noFill/>
          <a:ln/>
        </p:spPr>
        <p:txBody>
          <a:bodyPr wrap="square" lIns="25400" tIns="25400" rIns="25400" bIns="25400" rtlCol="0" anchor="t">
            <a:normAutofit lnSpcReduction="10000"/>
          </a:bodyPr>
          <a:lstStyle/>
          <a:p>
            <a:pPr marL="0" indent="0" algn="l">
              <a:buNone/>
            </a:pPr>
            <a:r>
              <a:rPr lang="en-US" sz="1800">
                <a:solidFill>
                  <a:srgbClr val="94A3B8"/>
                </a:solidFill>
                <a:latin typeface="Arial" pitchFamily="34" charset="0"/>
                <a:ea typeface="Arial" pitchFamily="34" charset="-122"/>
                <a:cs typeface="Arial" pitchFamily="34" charset="-120"/>
              </a:rPr>
              <a:t>state</a:t>
            </a:r>
            <a:endParaRPr lang="en-US" sz="1800"/>
          </a:p>
        </p:txBody>
      </p:sp>
      <p:sp>
        <p:nvSpPr>
          <p:cNvPr id="29" name="Shape 23"/>
          <p:cNvSpPr/>
          <p:nvPr/>
        </p:nvSpPr>
        <p:spPr>
          <a:xfrm>
            <a:off x="9372534" y="4405148"/>
            <a:ext cx="7962966" cy="10583"/>
          </a:xfrm>
          <a:prstGeom prst="rect">
            <a:avLst/>
          </a:prstGeom>
          <a:solidFill>
            <a:srgbClr val="1F2937"/>
          </a:solidFill>
          <a:ln/>
        </p:spPr>
        <p:txBody>
          <a:bodyPr/>
          <a:lstStyle/>
          <a:p>
            <a:endParaRPr lang="en-US"/>
          </a:p>
        </p:txBody>
      </p:sp>
      <p:sp>
        <p:nvSpPr>
          <p:cNvPr id="30" name="Text 24"/>
          <p:cNvSpPr/>
          <p:nvPr/>
        </p:nvSpPr>
        <p:spPr>
          <a:xfrm>
            <a:off x="9372534" y="3924763"/>
            <a:ext cx="8201855" cy="366084"/>
          </a:xfrm>
          <a:prstGeom prst="rect">
            <a:avLst/>
          </a:prstGeom>
          <a:noFill/>
          <a:ln/>
        </p:spPr>
        <p:txBody>
          <a:bodyPr wrap="square" lIns="25400" tIns="25400" rIns="25400" bIns="25400" rtlCol="0" anchor="t">
            <a:normAutofit/>
          </a:bodyPr>
          <a:lstStyle/>
          <a:p>
            <a:pPr marL="0" indent="0" algn="l">
              <a:buNone/>
            </a:pPr>
            <a:r>
              <a:rPr lang="en-US" sz="1950" kern="0" spc="234">
                <a:solidFill>
                  <a:srgbClr val="FCA5A5"/>
                </a:solidFill>
                <a:latin typeface="Arial" pitchFamily="34" charset="0"/>
                <a:ea typeface="Arial" pitchFamily="34" charset="-122"/>
                <a:cs typeface="Arial" pitchFamily="34" charset="-120"/>
              </a:rPr>
              <a:t>// AI TOOLS USED</a:t>
            </a:r>
            <a:endParaRPr lang="en-US" sz="1950"/>
          </a:p>
        </p:txBody>
      </p:sp>
      <p:sp>
        <p:nvSpPr>
          <p:cNvPr id="31" name="Shape 25"/>
          <p:cNvSpPr/>
          <p:nvPr/>
        </p:nvSpPr>
        <p:spPr>
          <a:xfrm>
            <a:off x="9372534" y="4682299"/>
            <a:ext cx="7962966" cy="859234"/>
          </a:xfrm>
          <a:prstGeom prst="roundRect">
            <a:avLst>
              <a:gd name="adj" fmla="val 13303"/>
            </a:avLst>
          </a:prstGeom>
          <a:solidFill>
            <a:srgbClr val="111827"/>
          </a:solidFill>
          <a:ln w="10583">
            <a:solidFill>
              <a:srgbClr val="1F2937"/>
            </a:solidFill>
            <a:prstDash val="solid"/>
          </a:ln>
        </p:spPr>
        <p:txBody>
          <a:bodyPr/>
          <a:lstStyle/>
          <a:p>
            <a:endParaRPr lang="en-US"/>
          </a:p>
        </p:txBody>
      </p:sp>
      <p:sp>
        <p:nvSpPr>
          <p:cNvPr id="32" name="Shape 26"/>
          <p:cNvSpPr/>
          <p:nvPr/>
        </p:nvSpPr>
        <p:spPr>
          <a:xfrm>
            <a:off x="9611652" y="4902398"/>
            <a:ext cx="419034" cy="419034"/>
          </a:xfrm>
          <a:prstGeom prst="roundRect">
            <a:avLst>
              <a:gd name="adj" fmla="val 22731"/>
            </a:avLst>
          </a:prstGeom>
          <a:solidFill>
            <a:srgbClr val="F87171">
              <a:alpha val="14000"/>
            </a:srgbClr>
          </a:solidFill>
          <a:ln/>
        </p:spPr>
        <p:txBody>
          <a:bodyPr/>
          <a:lstStyle/>
          <a:p>
            <a:endParaRPr lang="en-US"/>
          </a:p>
        </p:txBody>
      </p:sp>
      <p:pic>
        <p:nvPicPr>
          <p:cNvPr id="33" name="Image 4" descr="preencoded.png"/>
          <p:cNvPicPr>
            <a:picLocks noChangeAspect="1"/>
          </p:cNvPicPr>
          <p:nvPr/>
        </p:nvPicPr>
        <p:blipFill>
          <a:blip r:embed="rId7">
            <a:duotone>
              <a:schemeClr val="accent2">
                <a:shade val="45000"/>
                <a:satMod val="135000"/>
              </a:schemeClr>
              <a:prstClr val="white"/>
            </a:duotone>
          </a:blip>
          <a:stretch>
            <a:fillRect/>
          </a:stretch>
        </p:blipFill>
        <p:spPr>
          <a:xfrm>
            <a:off x="9716327" y="5007075"/>
            <a:ext cx="209517" cy="209517"/>
          </a:xfrm>
          <a:prstGeom prst="rect">
            <a:avLst/>
          </a:prstGeom>
        </p:spPr>
      </p:pic>
      <p:sp>
        <p:nvSpPr>
          <p:cNvPr id="34" name="Text 27"/>
          <p:cNvSpPr/>
          <p:nvPr/>
        </p:nvSpPr>
        <p:spPr>
          <a:xfrm>
            <a:off x="10221185" y="4953166"/>
            <a:ext cx="2609916" cy="355600"/>
          </a:xfrm>
          <a:prstGeom prst="rect">
            <a:avLst/>
          </a:prstGeom>
          <a:noFill/>
          <a:ln/>
        </p:spPr>
        <p:txBody>
          <a:bodyPr wrap="square" lIns="25400" tIns="25400" rIns="25400" bIns="25400" rtlCol="0" anchor="t">
            <a:normAutofit/>
          </a:bodyPr>
          <a:lstStyle/>
          <a:p>
            <a:pPr marL="0" indent="0" algn="l">
              <a:buNone/>
            </a:pPr>
            <a:r>
              <a:rPr lang="en-US" sz="1950">
                <a:solidFill>
                  <a:srgbClr val="E5E7EB"/>
                </a:solidFill>
                <a:latin typeface="Arial" pitchFamily="34" charset="0"/>
                <a:ea typeface="Arial" pitchFamily="34" charset="-122"/>
                <a:cs typeface="Arial" pitchFamily="34" charset="-120"/>
              </a:rPr>
              <a:t>Claude / Claude Code</a:t>
            </a:r>
            <a:endParaRPr lang="en-US" sz="1950"/>
          </a:p>
        </p:txBody>
      </p:sp>
      <p:sp>
        <p:nvSpPr>
          <p:cNvPr id="35" name="Text 28"/>
          <p:cNvSpPr/>
          <p:nvPr/>
        </p:nvSpPr>
        <p:spPr>
          <a:xfrm>
            <a:off x="13568627" y="4809266"/>
            <a:ext cx="3348700" cy="859234"/>
          </a:xfrm>
          <a:prstGeom prst="rect">
            <a:avLst/>
          </a:prstGeom>
          <a:noFill/>
          <a:ln/>
        </p:spPr>
        <p:txBody>
          <a:bodyPr wrap="square" lIns="25400" tIns="25400" rIns="25400" bIns="25400" rtlCol="0" anchor="t">
            <a:normAutofit/>
          </a:bodyPr>
          <a:lstStyle/>
          <a:p>
            <a:r>
              <a:rPr lang="en-US">
                <a:solidFill>
                  <a:srgbClr val="F87171">
                    <a:alpha val="80000"/>
                  </a:srgbClr>
                </a:solidFill>
                <a:latin typeface="Arial" pitchFamily="34" charset="0"/>
                <a:ea typeface="Arial" pitchFamily="34" charset="-122"/>
                <a:cs typeface="Arial" pitchFamily="34" charset="-120"/>
              </a:rPr>
              <a:t>· </a:t>
            </a:r>
            <a:r>
              <a:rPr lang="en-US" sz="1800">
                <a:solidFill>
                  <a:srgbClr val="F87171">
                    <a:alpha val="80000"/>
                  </a:srgbClr>
                </a:solidFill>
                <a:latin typeface="Arial" pitchFamily="34" charset="0"/>
                <a:ea typeface="Arial" pitchFamily="34" charset="-122"/>
                <a:cs typeface="Arial" pitchFamily="34" charset="-120"/>
              </a:rPr>
              <a:t>API integration · debugging </a:t>
            </a:r>
          </a:p>
          <a:p>
            <a:r>
              <a:rPr lang="en-US">
                <a:solidFill>
                  <a:srgbClr val="F87171">
                    <a:alpha val="80000"/>
                  </a:srgbClr>
                </a:solidFill>
                <a:latin typeface="Arial" pitchFamily="34" charset="0"/>
                <a:ea typeface="Arial" pitchFamily="34" charset="-122"/>
                <a:cs typeface="Arial" pitchFamily="34" charset="-120"/>
              </a:rPr>
              <a:t>· Code completion</a:t>
            </a:r>
            <a:endParaRPr lang="en-US"/>
          </a:p>
          <a:p>
            <a:pPr marL="0" indent="0" algn="l">
              <a:buNone/>
            </a:pPr>
            <a:endParaRPr lang="en-US" sz="1800"/>
          </a:p>
        </p:txBody>
      </p:sp>
      <p:sp>
        <p:nvSpPr>
          <p:cNvPr id="40" name="Text 32"/>
          <p:cNvSpPr/>
          <p:nvPr/>
        </p:nvSpPr>
        <p:spPr>
          <a:xfrm>
            <a:off x="15432320" y="6004885"/>
            <a:ext cx="1740264" cy="313267"/>
          </a:xfrm>
          <a:prstGeom prst="rect">
            <a:avLst/>
          </a:prstGeom>
          <a:noFill/>
          <a:ln/>
        </p:spPr>
        <p:txBody>
          <a:bodyPr wrap="square" lIns="25400" tIns="25400" rIns="25400" bIns="25400" rtlCol="0" anchor="t">
            <a:normAutofit lnSpcReduction="10000"/>
          </a:bodyPr>
          <a:lstStyle/>
          <a:p>
            <a:pPr marL="0" indent="0" algn="l">
              <a:buNone/>
            </a:pPr>
            <a:endParaRPr lang="en-US" sz="1800"/>
          </a:p>
        </p:txBody>
      </p:sp>
      <p:sp>
        <p:nvSpPr>
          <p:cNvPr id="41" name="Shape 33"/>
          <p:cNvSpPr/>
          <p:nvPr/>
        </p:nvSpPr>
        <p:spPr>
          <a:xfrm>
            <a:off x="9372534" y="5712851"/>
            <a:ext cx="7962966" cy="859234"/>
          </a:xfrm>
          <a:prstGeom prst="roundRect">
            <a:avLst>
              <a:gd name="adj" fmla="val 13303"/>
            </a:avLst>
          </a:prstGeom>
          <a:solidFill>
            <a:srgbClr val="F87171">
              <a:alpha val="8000"/>
            </a:srgbClr>
          </a:solidFill>
          <a:ln w="10583">
            <a:solidFill>
              <a:srgbClr val="F87171">
                <a:alpha val="28000"/>
              </a:srgbClr>
            </a:solidFill>
            <a:prstDash val="solid"/>
          </a:ln>
        </p:spPr>
        <p:txBody>
          <a:bodyPr/>
          <a:lstStyle/>
          <a:p>
            <a:endParaRPr lang="en-US"/>
          </a:p>
        </p:txBody>
      </p:sp>
      <p:sp>
        <p:nvSpPr>
          <p:cNvPr id="42" name="Shape 34"/>
          <p:cNvSpPr/>
          <p:nvPr/>
        </p:nvSpPr>
        <p:spPr>
          <a:xfrm>
            <a:off x="9611652" y="5932951"/>
            <a:ext cx="419034" cy="419034"/>
          </a:xfrm>
          <a:prstGeom prst="roundRect">
            <a:avLst>
              <a:gd name="adj" fmla="val 22731"/>
            </a:avLst>
          </a:prstGeom>
          <a:solidFill>
            <a:srgbClr val="F87171">
              <a:alpha val="14000"/>
            </a:srgbClr>
          </a:solidFill>
          <a:ln/>
        </p:spPr>
        <p:txBody>
          <a:bodyPr/>
          <a:lstStyle/>
          <a:p>
            <a:endParaRPr lang="en-US"/>
          </a:p>
        </p:txBody>
      </p:sp>
      <p:pic>
        <p:nvPicPr>
          <p:cNvPr id="43" name="Image 6" descr="preencoded.png"/>
          <p:cNvPicPr>
            <a:picLocks noChangeAspect="1"/>
          </p:cNvPicPr>
          <p:nvPr/>
        </p:nvPicPr>
        <p:blipFill>
          <a:blip r:embed="rId8">
            <a:duotone>
              <a:schemeClr val="accent2">
                <a:shade val="45000"/>
                <a:satMod val="135000"/>
              </a:schemeClr>
              <a:prstClr val="white"/>
            </a:duotone>
          </a:blip>
          <a:stretch>
            <a:fillRect/>
          </a:stretch>
        </p:blipFill>
        <p:spPr>
          <a:xfrm>
            <a:off x="9716327" y="6037626"/>
            <a:ext cx="209517" cy="209517"/>
          </a:xfrm>
          <a:prstGeom prst="rect">
            <a:avLst/>
          </a:prstGeom>
        </p:spPr>
      </p:pic>
      <p:sp>
        <p:nvSpPr>
          <p:cNvPr id="44" name="Text 35"/>
          <p:cNvSpPr/>
          <p:nvPr/>
        </p:nvSpPr>
        <p:spPr>
          <a:xfrm>
            <a:off x="10221185" y="5983718"/>
            <a:ext cx="3762321" cy="355600"/>
          </a:xfrm>
          <a:prstGeom prst="rect">
            <a:avLst/>
          </a:prstGeom>
          <a:noFill/>
          <a:ln/>
        </p:spPr>
        <p:txBody>
          <a:bodyPr wrap="square" lIns="25400" tIns="25400" rIns="25400" bIns="25400" rtlCol="0" anchor="t">
            <a:normAutofit/>
          </a:bodyPr>
          <a:lstStyle/>
          <a:p>
            <a:pPr marL="0" indent="0" algn="l">
              <a:buNone/>
            </a:pPr>
            <a:r>
              <a:rPr lang="en-US" sz="1950">
                <a:solidFill>
                  <a:srgbClr val="F87171"/>
                </a:solidFill>
                <a:latin typeface="Arial" pitchFamily="34" charset="0"/>
                <a:ea typeface="Arial" pitchFamily="34" charset="-122"/>
                <a:cs typeface="Arial" pitchFamily="34" charset="-120"/>
              </a:rPr>
              <a:t>All output reviewed &amp; modified</a:t>
            </a:r>
            <a:endParaRPr lang="en-US" sz="1950"/>
          </a:p>
        </p:txBody>
      </p:sp>
      <p:sp>
        <p:nvSpPr>
          <p:cNvPr id="45" name="Text 36"/>
          <p:cNvSpPr/>
          <p:nvPr/>
        </p:nvSpPr>
        <p:spPr>
          <a:xfrm>
            <a:off x="15279688" y="6004884"/>
            <a:ext cx="1892895" cy="313267"/>
          </a:xfrm>
          <a:prstGeom prst="rect">
            <a:avLst/>
          </a:prstGeom>
          <a:noFill/>
          <a:ln/>
        </p:spPr>
        <p:txBody>
          <a:bodyPr wrap="square" lIns="25400" tIns="25400" rIns="25400" bIns="25400" rtlCol="0" anchor="t">
            <a:normAutofit lnSpcReduction="10000"/>
          </a:bodyPr>
          <a:lstStyle/>
          <a:p>
            <a:pPr marL="0" indent="0" algn="l">
              <a:buNone/>
            </a:pPr>
            <a:r>
              <a:rPr lang="en-US" sz="1800">
                <a:solidFill>
                  <a:srgbClr val="94A3B8"/>
                </a:solidFill>
                <a:latin typeface="Arial" pitchFamily="34" charset="0"/>
                <a:ea typeface="Arial" pitchFamily="34" charset="-122"/>
                <a:cs typeface="Arial" pitchFamily="34" charset="-120"/>
              </a:rPr>
              <a:t>human in the loop</a:t>
            </a:r>
            <a:endParaRPr lang="en-US" sz="1800"/>
          </a:p>
        </p:txBody>
      </p:sp>
      <p:sp>
        <p:nvSpPr>
          <p:cNvPr id="46" name="Text 37"/>
          <p:cNvSpPr/>
          <p:nvPr/>
        </p:nvSpPr>
        <p:spPr>
          <a:xfrm>
            <a:off x="952500" y="9554766"/>
            <a:ext cx="1888431" cy="313267"/>
          </a:xfrm>
          <a:prstGeom prst="rect">
            <a:avLst/>
          </a:prstGeom>
          <a:noFill/>
          <a:ln/>
        </p:spPr>
        <p:txBody>
          <a:bodyPr wrap="square" lIns="25400" tIns="25400" rIns="25400" bIns="25400" rtlCol="0" anchor="t">
            <a:normAutofit lnSpcReduction="10000"/>
          </a:bodyPr>
          <a:lstStyle/>
          <a:p>
            <a:pPr marL="0" indent="0" algn="l">
              <a:buNone/>
            </a:pPr>
            <a:r>
              <a:rPr lang="en-US" sz="1800" kern="0" spc="144">
                <a:solidFill>
                  <a:srgbClr val="EF4444"/>
                </a:solidFill>
                <a:latin typeface="Arial" pitchFamily="34" charset="0"/>
                <a:ea typeface="Arial" pitchFamily="34" charset="-122"/>
                <a:cs typeface="Arial" pitchFamily="34" charset="-120"/>
              </a:rPr>
              <a:t>● </a:t>
            </a:r>
            <a:r>
              <a:rPr lang="en-US" sz="1800" kern="0" spc="144">
                <a:solidFill>
                  <a:srgbClr val="64748B"/>
                </a:solidFill>
                <a:latin typeface="Arial" pitchFamily="34" charset="0"/>
                <a:ea typeface="Arial" pitchFamily="34" charset="-122"/>
                <a:cs typeface="Arial" pitchFamily="34" charset="-120"/>
              </a:rPr>
              <a:t>STACK &amp; AI</a:t>
            </a:r>
            <a:endParaRPr lang="en-US" sz="1800"/>
          </a:p>
        </p:txBody>
      </p:sp>
      <p:sp>
        <p:nvSpPr>
          <p:cNvPr id="47" name="Text 38"/>
          <p:cNvSpPr/>
          <p:nvPr/>
        </p:nvSpPr>
        <p:spPr>
          <a:xfrm>
            <a:off x="16508678" y="9554766"/>
            <a:ext cx="903023" cy="313267"/>
          </a:xfrm>
          <a:prstGeom prst="rect">
            <a:avLst/>
          </a:prstGeom>
          <a:noFill/>
          <a:ln/>
        </p:spPr>
        <p:txBody>
          <a:bodyPr wrap="square" lIns="25400" tIns="25400" rIns="25400" bIns="25400" rtlCol="0" anchor="t">
            <a:normAutofit lnSpcReduction="10000"/>
          </a:bodyPr>
          <a:lstStyle/>
          <a:p>
            <a:pPr marL="0" indent="0" algn="l">
              <a:buNone/>
            </a:pPr>
            <a:r>
              <a:rPr lang="en-US" sz="1800" kern="0" spc="144">
                <a:solidFill>
                  <a:srgbClr val="64748B"/>
                </a:solidFill>
                <a:latin typeface="Arial" pitchFamily="34" charset="0"/>
                <a:ea typeface="Arial" pitchFamily="34" charset="-122"/>
                <a:cs typeface="Arial" pitchFamily="34" charset="-120"/>
              </a:rPr>
              <a:t>04 / 06</a:t>
            </a:r>
            <a:endParaRPr lang="en-US" sz="1800"/>
          </a:p>
        </p:txBody>
      </p:sp>
      <p:pic>
        <p:nvPicPr>
          <p:cNvPr id="49" name="Graphic 48" descr="Rope Knot with solid fill">
            <a:extLst>
              <a:ext uri="{FF2B5EF4-FFF2-40B4-BE49-F238E27FC236}">
                <a16:creationId xmlns:a16="http://schemas.microsoft.com/office/drawing/2014/main" id="{4EE84420-A7A8-E979-9139-F7179CC7A9A5}"/>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1218785" y="6918390"/>
            <a:ext cx="370517" cy="370517"/>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0E1A"/>
        </a:solidFill>
        <a:effectLst/>
      </p:bgPr>
    </p:bg>
    <p:spTree>
      <p:nvGrpSpPr>
        <p:cNvPr id="1" name=""/>
        <p:cNvGrpSpPr/>
        <p:nvPr/>
      </p:nvGrpSpPr>
      <p:grpSpPr>
        <a:xfrm>
          <a:off x="0" y="0"/>
          <a:ext cx="0" cy="0"/>
          <a:chOff x="0" y="0"/>
          <a:chExt cx="0" cy="0"/>
        </a:xfrm>
      </p:grpSpPr>
      <p:sp>
        <p:nvSpPr>
          <p:cNvPr id="2" name="Shape 0"/>
          <p:cNvSpPr/>
          <p:nvPr/>
        </p:nvSpPr>
        <p:spPr>
          <a:xfrm>
            <a:off x="457068" y="457068"/>
            <a:ext cx="696350" cy="10583"/>
          </a:xfrm>
          <a:prstGeom prst="rect">
            <a:avLst/>
          </a:prstGeom>
          <a:solidFill>
            <a:srgbClr val="EF4444"/>
          </a:solidFill>
          <a:ln/>
        </p:spPr>
        <p:txBody>
          <a:bodyPr/>
          <a:lstStyle/>
          <a:p>
            <a:endParaRPr lang="en-US"/>
          </a:p>
        </p:txBody>
      </p:sp>
      <p:sp>
        <p:nvSpPr>
          <p:cNvPr id="3" name="Shape 1"/>
          <p:cNvSpPr/>
          <p:nvPr/>
        </p:nvSpPr>
        <p:spPr>
          <a:xfrm>
            <a:off x="457068" y="457068"/>
            <a:ext cx="10583" cy="696350"/>
          </a:xfrm>
          <a:prstGeom prst="rect">
            <a:avLst/>
          </a:prstGeom>
          <a:solidFill>
            <a:srgbClr val="EF4444"/>
          </a:solidFill>
          <a:ln/>
        </p:spPr>
        <p:txBody>
          <a:bodyPr/>
          <a:lstStyle/>
          <a:p>
            <a:endParaRPr lang="en-US"/>
          </a:p>
        </p:txBody>
      </p:sp>
      <p:sp>
        <p:nvSpPr>
          <p:cNvPr id="4" name="Text 2"/>
          <p:cNvSpPr/>
          <p:nvPr/>
        </p:nvSpPr>
        <p:spPr>
          <a:xfrm>
            <a:off x="952500" y="952500"/>
            <a:ext cx="16874491" cy="334433"/>
          </a:xfrm>
          <a:prstGeom prst="rect">
            <a:avLst/>
          </a:prstGeom>
          <a:noFill/>
          <a:ln/>
        </p:spPr>
        <p:txBody>
          <a:bodyPr wrap="square" lIns="25400" tIns="25400" rIns="25400" bIns="25400" rtlCol="0" anchor="ctr">
            <a:normAutofit/>
          </a:bodyPr>
          <a:lstStyle/>
          <a:p>
            <a:pPr marL="0" indent="0" algn="l">
              <a:buNone/>
            </a:pPr>
            <a:r>
              <a:rPr lang="en-US" sz="1800" kern="0" spc="324">
                <a:solidFill>
                  <a:srgbClr val="EF4444"/>
                </a:solidFill>
                <a:latin typeface="Arial" pitchFamily="34" charset="0"/>
                <a:ea typeface="Arial" pitchFamily="34" charset="-122"/>
                <a:cs typeface="Arial" pitchFamily="34" charset="-120"/>
              </a:rPr>
              <a:t>04 / REFLECTION</a:t>
            </a:r>
            <a:endParaRPr lang="en-US" sz="1800"/>
          </a:p>
        </p:txBody>
      </p:sp>
      <p:sp>
        <p:nvSpPr>
          <p:cNvPr id="5" name="Text 3"/>
          <p:cNvSpPr/>
          <p:nvPr/>
        </p:nvSpPr>
        <p:spPr>
          <a:xfrm>
            <a:off x="952500" y="1439333"/>
            <a:ext cx="16874491" cy="708488"/>
          </a:xfrm>
          <a:prstGeom prst="rect">
            <a:avLst/>
          </a:prstGeom>
          <a:noFill/>
          <a:ln/>
        </p:spPr>
        <p:txBody>
          <a:bodyPr wrap="square" lIns="25400" tIns="25400" rIns="25400" bIns="25400" rtlCol="0" anchor="t">
            <a:normAutofit fontScale="92500" lnSpcReduction="20000"/>
          </a:bodyPr>
          <a:lstStyle/>
          <a:p>
            <a:pPr marL="0" indent="0" algn="l">
              <a:lnSpc>
                <a:spcPct val="110000"/>
              </a:lnSpc>
              <a:buNone/>
            </a:pPr>
            <a:r>
              <a:rPr lang="en-US" sz="4800" b="1" kern="0" spc="-96">
                <a:solidFill>
                  <a:srgbClr val="E5E7EB"/>
                </a:solidFill>
                <a:latin typeface="Arial" pitchFamily="34" charset="0"/>
                <a:ea typeface="Arial" pitchFamily="34" charset="-122"/>
                <a:cs typeface="Arial" pitchFamily="34" charset="-120"/>
              </a:rPr>
              <a:t>Challenges &amp; Lessons</a:t>
            </a:r>
            <a:endParaRPr lang="en-US" sz="4800"/>
          </a:p>
        </p:txBody>
      </p:sp>
      <p:sp>
        <p:nvSpPr>
          <p:cNvPr id="6" name="Text 4"/>
          <p:cNvSpPr/>
          <p:nvPr/>
        </p:nvSpPr>
        <p:spPr>
          <a:xfrm>
            <a:off x="952500" y="2528755"/>
            <a:ext cx="11772900" cy="507570"/>
          </a:xfrm>
          <a:prstGeom prst="rect">
            <a:avLst/>
          </a:prstGeom>
          <a:noFill/>
          <a:ln/>
        </p:spPr>
        <p:txBody>
          <a:bodyPr wrap="square" lIns="25400" tIns="25400" rIns="25400" bIns="25400" rtlCol="0" anchor="t">
            <a:normAutofit fontScale="92500" lnSpcReduction="10000"/>
          </a:bodyPr>
          <a:lstStyle/>
          <a:p>
            <a:pPr marL="0" indent="0" algn="l">
              <a:lnSpc>
                <a:spcPct val="145000"/>
              </a:lnSpc>
              <a:buNone/>
            </a:pPr>
            <a:r>
              <a:rPr lang="en-US" sz="2550">
                <a:solidFill>
                  <a:srgbClr val="CBD5E1"/>
                </a:solidFill>
                <a:latin typeface="Arial" pitchFamily="34" charset="0"/>
                <a:ea typeface="Arial" pitchFamily="34" charset="-122"/>
                <a:cs typeface="Arial" pitchFamily="34" charset="-120"/>
              </a:rPr>
              <a:t>What broke, how I fixed it, and what stuck.</a:t>
            </a:r>
            <a:endParaRPr lang="en-US" sz="2550"/>
          </a:p>
        </p:txBody>
      </p:sp>
      <p:sp>
        <p:nvSpPr>
          <p:cNvPr id="7" name="Shape 5"/>
          <p:cNvSpPr/>
          <p:nvPr/>
        </p:nvSpPr>
        <p:spPr>
          <a:xfrm>
            <a:off x="952500" y="3456451"/>
            <a:ext cx="517095" cy="431602"/>
          </a:xfrm>
          <a:prstGeom prst="roundRect">
            <a:avLst>
              <a:gd name="adj" fmla="val 17655"/>
            </a:avLst>
          </a:prstGeom>
          <a:solidFill>
            <a:srgbClr val="EF4444">
              <a:alpha val="12000"/>
            </a:srgbClr>
          </a:solidFill>
          <a:ln w="10583">
            <a:solidFill>
              <a:srgbClr val="EF4444"/>
            </a:solidFill>
            <a:prstDash val="solid"/>
          </a:ln>
        </p:spPr>
        <p:txBody>
          <a:bodyPr/>
          <a:lstStyle/>
          <a:p>
            <a:endParaRPr lang="en-US"/>
          </a:p>
        </p:txBody>
      </p:sp>
      <p:sp>
        <p:nvSpPr>
          <p:cNvPr id="8" name="Text 6"/>
          <p:cNvSpPr/>
          <p:nvPr/>
        </p:nvSpPr>
        <p:spPr>
          <a:xfrm>
            <a:off x="1077383" y="3524184"/>
            <a:ext cx="343528" cy="334235"/>
          </a:xfrm>
          <a:prstGeom prst="rect">
            <a:avLst/>
          </a:prstGeom>
          <a:noFill/>
          <a:ln/>
        </p:spPr>
        <p:txBody>
          <a:bodyPr wrap="square" lIns="25400" tIns="25400" rIns="25400" bIns="25400" rtlCol="0" anchor="t">
            <a:normAutofit/>
          </a:bodyPr>
          <a:lstStyle/>
          <a:p>
            <a:pPr marL="0" indent="0" algn="l">
              <a:buNone/>
            </a:pPr>
            <a:r>
              <a:rPr lang="en-US" sz="1800" b="1" kern="0" spc="-27">
                <a:solidFill>
                  <a:srgbClr val="EF4444"/>
                </a:solidFill>
                <a:latin typeface="Arial" pitchFamily="34" charset="0"/>
                <a:ea typeface="Arial" pitchFamily="34" charset="-122"/>
                <a:cs typeface="Arial" pitchFamily="34" charset="-120"/>
              </a:rPr>
              <a:t>01</a:t>
            </a:r>
            <a:endParaRPr lang="en-US" sz="1800"/>
          </a:p>
        </p:txBody>
      </p:sp>
      <p:sp>
        <p:nvSpPr>
          <p:cNvPr id="9" name="Text 7"/>
          <p:cNvSpPr/>
          <p:nvPr/>
        </p:nvSpPr>
        <p:spPr>
          <a:xfrm>
            <a:off x="1621896" y="3455293"/>
            <a:ext cx="3041844" cy="472017"/>
          </a:xfrm>
          <a:prstGeom prst="rect">
            <a:avLst/>
          </a:prstGeom>
          <a:noFill/>
          <a:ln/>
        </p:spPr>
        <p:txBody>
          <a:bodyPr wrap="square" lIns="0" tIns="0" rIns="0" bIns="0" rtlCol="0" anchor="t">
            <a:normAutofit/>
          </a:bodyPr>
          <a:lstStyle/>
          <a:p>
            <a:pPr marL="0" indent="0" algn="l">
              <a:buNone/>
            </a:pPr>
            <a:r>
              <a:rPr lang="en-US" sz="2700" b="1" kern="0" spc="-27">
                <a:solidFill>
                  <a:srgbClr val="E5E7EB"/>
                </a:solidFill>
                <a:latin typeface="Arial" pitchFamily="34" charset="0"/>
                <a:ea typeface="Arial" pitchFamily="34" charset="-122"/>
                <a:cs typeface="Arial" pitchFamily="34" charset="-120"/>
              </a:rPr>
              <a:t>Challenges Solved</a:t>
            </a:r>
            <a:endParaRPr lang="en-US" sz="2700"/>
          </a:p>
        </p:txBody>
      </p:sp>
      <p:sp>
        <p:nvSpPr>
          <p:cNvPr id="10" name="Shape 8"/>
          <p:cNvSpPr/>
          <p:nvPr/>
        </p:nvSpPr>
        <p:spPr>
          <a:xfrm>
            <a:off x="952500" y="4193977"/>
            <a:ext cx="7962966" cy="1176238"/>
          </a:xfrm>
          <a:prstGeom prst="roundRect">
            <a:avLst>
              <a:gd name="adj" fmla="val 8098"/>
            </a:avLst>
          </a:prstGeom>
          <a:solidFill>
            <a:srgbClr val="111827"/>
          </a:solidFill>
          <a:ln/>
        </p:spPr>
        <p:txBody>
          <a:bodyPr/>
          <a:lstStyle/>
          <a:p>
            <a:endParaRPr lang="en-US"/>
          </a:p>
        </p:txBody>
      </p:sp>
      <p:sp>
        <p:nvSpPr>
          <p:cNvPr id="11" name="Shape 9"/>
          <p:cNvSpPr/>
          <p:nvPr/>
        </p:nvSpPr>
        <p:spPr>
          <a:xfrm>
            <a:off x="952500" y="5359632"/>
            <a:ext cx="7962966" cy="10583"/>
          </a:xfrm>
          <a:prstGeom prst="rect">
            <a:avLst/>
          </a:prstGeom>
          <a:solidFill>
            <a:srgbClr val="1F2937"/>
          </a:solidFill>
          <a:ln/>
        </p:spPr>
        <p:txBody>
          <a:bodyPr/>
          <a:lstStyle/>
          <a:p>
            <a:endParaRPr lang="en-US"/>
          </a:p>
        </p:txBody>
      </p:sp>
      <p:sp>
        <p:nvSpPr>
          <p:cNvPr id="12" name="Shape 10"/>
          <p:cNvSpPr/>
          <p:nvPr/>
        </p:nvSpPr>
        <p:spPr>
          <a:xfrm>
            <a:off x="952500" y="4193977"/>
            <a:ext cx="7962966" cy="10583"/>
          </a:xfrm>
          <a:prstGeom prst="rect">
            <a:avLst/>
          </a:prstGeom>
          <a:solidFill>
            <a:srgbClr val="1F2937"/>
          </a:solidFill>
          <a:ln/>
        </p:spPr>
        <p:txBody>
          <a:bodyPr/>
          <a:lstStyle/>
          <a:p>
            <a:endParaRPr lang="en-US"/>
          </a:p>
        </p:txBody>
      </p:sp>
      <p:sp>
        <p:nvSpPr>
          <p:cNvPr id="13" name="Shape 11"/>
          <p:cNvSpPr/>
          <p:nvPr/>
        </p:nvSpPr>
        <p:spPr>
          <a:xfrm>
            <a:off x="952500" y="4193977"/>
            <a:ext cx="21167" cy="1176238"/>
          </a:xfrm>
          <a:prstGeom prst="rect">
            <a:avLst/>
          </a:prstGeom>
          <a:solidFill>
            <a:srgbClr val="EF4444"/>
          </a:solidFill>
          <a:ln/>
        </p:spPr>
        <p:txBody>
          <a:bodyPr/>
          <a:lstStyle/>
          <a:p>
            <a:endParaRPr lang="en-US"/>
          </a:p>
        </p:txBody>
      </p:sp>
      <p:sp>
        <p:nvSpPr>
          <p:cNvPr id="14" name="Shape 12"/>
          <p:cNvSpPr/>
          <p:nvPr/>
        </p:nvSpPr>
        <p:spPr>
          <a:xfrm>
            <a:off x="8904883" y="4193977"/>
            <a:ext cx="10583" cy="1176238"/>
          </a:xfrm>
          <a:prstGeom prst="rect">
            <a:avLst/>
          </a:prstGeom>
          <a:solidFill>
            <a:srgbClr val="1F2937"/>
          </a:solidFill>
          <a:ln/>
        </p:spPr>
        <p:txBody>
          <a:bodyPr/>
          <a:lstStyle/>
          <a:p>
            <a:endParaRPr lang="en-US"/>
          </a:p>
        </p:txBody>
      </p:sp>
      <p:sp>
        <p:nvSpPr>
          <p:cNvPr id="15" name="Text 13"/>
          <p:cNvSpPr/>
          <p:nvPr/>
        </p:nvSpPr>
        <p:spPr>
          <a:xfrm>
            <a:off x="1240234" y="4433094"/>
            <a:ext cx="7620023" cy="313267"/>
          </a:xfrm>
          <a:prstGeom prst="rect">
            <a:avLst/>
          </a:prstGeom>
          <a:noFill/>
          <a:ln/>
        </p:spPr>
        <p:txBody>
          <a:bodyPr wrap="square" lIns="25400" tIns="25400" rIns="25400" bIns="25400" rtlCol="0" anchor="t">
            <a:normAutofit lnSpcReduction="10000"/>
          </a:bodyPr>
          <a:lstStyle/>
          <a:p>
            <a:pPr marL="0" indent="0" algn="l">
              <a:buNone/>
            </a:pPr>
            <a:r>
              <a:rPr lang="en-US" sz="1800" kern="0" spc="144">
                <a:solidFill>
                  <a:srgbClr val="EF4444"/>
                </a:solidFill>
                <a:latin typeface="Arial" pitchFamily="34" charset="0"/>
                <a:ea typeface="Arial" pitchFamily="34" charset="-122"/>
                <a:cs typeface="Arial" pitchFamily="34" charset="-120"/>
              </a:rPr>
              <a:t>PROBLEM → FIX</a:t>
            </a:r>
            <a:endParaRPr lang="en-US" sz="1800"/>
          </a:p>
        </p:txBody>
      </p:sp>
      <p:sp>
        <p:nvSpPr>
          <p:cNvPr id="16" name="Text 14"/>
          <p:cNvSpPr/>
          <p:nvPr/>
        </p:nvSpPr>
        <p:spPr>
          <a:xfrm>
            <a:off x="1240234" y="4784328"/>
            <a:ext cx="7620023" cy="384870"/>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950">
                <a:solidFill>
                  <a:srgbClr val="CBD5E1"/>
                </a:solidFill>
                <a:latin typeface="Arial" pitchFamily="34" charset="0"/>
                <a:ea typeface="Arial" pitchFamily="34" charset="-122"/>
                <a:cs typeface="Arial" pitchFamily="34" charset="-120"/>
              </a:rPr>
              <a:t>API rate limits </a:t>
            </a:r>
            <a:r>
              <a:rPr lang="en-US" sz="1950">
                <a:solidFill>
                  <a:srgbClr val="EF4444"/>
                </a:solidFill>
                <a:latin typeface="Arial" pitchFamily="34" charset="0"/>
                <a:ea typeface="Arial" pitchFamily="34" charset="-122"/>
                <a:cs typeface="Arial" pitchFamily="34" charset="-120"/>
              </a:rPr>
              <a:t>→ </a:t>
            </a:r>
            <a:r>
              <a:rPr lang="en-US" sz="1950">
                <a:solidFill>
                  <a:srgbClr val="CBD5E1"/>
                </a:solidFill>
                <a:latin typeface="Arial" pitchFamily="34" charset="0"/>
                <a:ea typeface="Arial" pitchFamily="34" charset="-122"/>
                <a:cs typeface="Arial" pitchFamily="34" charset="-120"/>
              </a:rPr>
              <a:t>retry button + graceful fallback.</a:t>
            </a:r>
            <a:endParaRPr lang="en-US" sz="1950"/>
          </a:p>
        </p:txBody>
      </p:sp>
      <p:sp>
        <p:nvSpPr>
          <p:cNvPr id="17" name="Shape 15"/>
          <p:cNvSpPr/>
          <p:nvPr/>
        </p:nvSpPr>
        <p:spPr>
          <a:xfrm>
            <a:off x="952500" y="5560715"/>
            <a:ext cx="7962966" cy="1176238"/>
          </a:xfrm>
          <a:prstGeom prst="roundRect">
            <a:avLst>
              <a:gd name="adj" fmla="val 8098"/>
            </a:avLst>
          </a:prstGeom>
          <a:solidFill>
            <a:srgbClr val="111827"/>
          </a:solidFill>
          <a:ln/>
        </p:spPr>
        <p:txBody>
          <a:bodyPr/>
          <a:lstStyle/>
          <a:p>
            <a:endParaRPr lang="en-US"/>
          </a:p>
        </p:txBody>
      </p:sp>
      <p:sp>
        <p:nvSpPr>
          <p:cNvPr id="18" name="Shape 16"/>
          <p:cNvSpPr/>
          <p:nvPr/>
        </p:nvSpPr>
        <p:spPr>
          <a:xfrm>
            <a:off x="952500" y="6726370"/>
            <a:ext cx="7962966" cy="10583"/>
          </a:xfrm>
          <a:prstGeom prst="rect">
            <a:avLst/>
          </a:prstGeom>
          <a:solidFill>
            <a:srgbClr val="1F2937"/>
          </a:solidFill>
          <a:ln/>
        </p:spPr>
        <p:txBody>
          <a:bodyPr/>
          <a:lstStyle/>
          <a:p>
            <a:endParaRPr lang="en-US"/>
          </a:p>
        </p:txBody>
      </p:sp>
      <p:sp>
        <p:nvSpPr>
          <p:cNvPr id="19" name="Shape 17"/>
          <p:cNvSpPr/>
          <p:nvPr/>
        </p:nvSpPr>
        <p:spPr>
          <a:xfrm>
            <a:off x="952500" y="5560715"/>
            <a:ext cx="7962966" cy="10583"/>
          </a:xfrm>
          <a:prstGeom prst="rect">
            <a:avLst/>
          </a:prstGeom>
          <a:solidFill>
            <a:srgbClr val="1F2937"/>
          </a:solidFill>
          <a:ln/>
        </p:spPr>
        <p:txBody>
          <a:bodyPr/>
          <a:lstStyle/>
          <a:p>
            <a:endParaRPr lang="en-US"/>
          </a:p>
        </p:txBody>
      </p:sp>
      <p:sp>
        <p:nvSpPr>
          <p:cNvPr id="20" name="Shape 18"/>
          <p:cNvSpPr/>
          <p:nvPr/>
        </p:nvSpPr>
        <p:spPr>
          <a:xfrm>
            <a:off x="952500" y="5560715"/>
            <a:ext cx="21167" cy="1176238"/>
          </a:xfrm>
          <a:prstGeom prst="rect">
            <a:avLst/>
          </a:prstGeom>
          <a:solidFill>
            <a:srgbClr val="EF4444"/>
          </a:solidFill>
          <a:ln/>
        </p:spPr>
        <p:txBody>
          <a:bodyPr/>
          <a:lstStyle/>
          <a:p>
            <a:endParaRPr lang="en-US"/>
          </a:p>
        </p:txBody>
      </p:sp>
      <p:sp>
        <p:nvSpPr>
          <p:cNvPr id="21" name="Shape 19"/>
          <p:cNvSpPr/>
          <p:nvPr/>
        </p:nvSpPr>
        <p:spPr>
          <a:xfrm>
            <a:off x="8904883" y="5560715"/>
            <a:ext cx="10583" cy="1176238"/>
          </a:xfrm>
          <a:prstGeom prst="rect">
            <a:avLst/>
          </a:prstGeom>
          <a:solidFill>
            <a:srgbClr val="1F2937"/>
          </a:solidFill>
          <a:ln/>
        </p:spPr>
        <p:txBody>
          <a:bodyPr/>
          <a:lstStyle/>
          <a:p>
            <a:endParaRPr lang="en-US"/>
          </a:p>
        </p:txBody>
      </p:sp>
      <p:sp>
        <p:nvSpPr>
          <p:cNvPr id="22" name="Text 20"/>
          <p:cNvSpPr/>
          <p:nvPr/>
        </p:nvSpPr>
        <p:spPr>
          <a:xfrm>
            <a:off x="1240234" y="5799832"/>
            <a:ext cx="7620023" cy="313267"/>
          </a:xfrm>
          <a:prstGeom prst="rect">
            <a:avLst/>
          </a:prstGeom>
          <a:noFill/>
          <a:ln/>
        </p:spPr>
        <p:txBody>
          <a:bodyPr wrap="square" lIns="25400" tIns="25400" rIns="25400" bIns="25400" rtlCol="0" anchor="t">
            <a:normAutofit lnSpcReduction="10000"/>
          </a:bodyPr>
          <a:lstStyle/>
          <a:p>
            <a:pPr marL="0" indent="0" algn="l">
              <a:buNone/>
            </a:pPr>
            <a:r>
              <a:rPr lang="en-US" sz="1800" kern="0" spc="144">
                <a:solidFill>
                  <a:srgbClr val="EF4444"/>
                </a:solidFill>
                <a:latin typeface="Arial" pitchFamily="34" charset="0"/>
                <a:ea typeface="Arial" pitchFamily="34" charset="-122"/>
                <a:cs typeface="Arial" pitchFamily="34" charset="-120"/>
              </a:rPr>
              <a:t>PROBLEM → FIX</a:t>
            </a:r>
            <a:endParaRPr lang="en-US" sz="1800"/>
          </a:p>
        </p:txBody>
      </p:sp>
      <p:sp>
        <p:nvSpPr>
          <p:cNvPr id="23" name="Text 21"/>
          <p:cNvSpPr/>
          <p:nvPr/>
        </p:nvSpPr>
        <p:spPr>
          <a:xfrm>
            <a:off x="1240234" y="6151067"/>
            <a:ext cx="7620023" cy="384870"/>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950">
                <a:solidFill>
                  <a:srgbClr val="CBD5E1"/>
                </a:solidFill>
                <a:latin typeface="Arial" pitchFamily="34" charset="0"/>
                <a:ea typeface="Arial" pitchFamily="34" charset="-122"/>
                <a:cs typeface="Arial" pitchFamily="34" charset="-120"/>
              </a:rPr>
              <a:t>Theme persistence </a:t>
            </a:r>
            <a:r>
              <a:rPr lang="en-US" sz="1950">
                <a:solidFill>
                  <a:srgbClr val="EF4444"/>
                </a:solidFill>
                <a:latin typeface="Arial" pitchFamily="34" charset="0"/>
                <a:ea typeface="Arial" pitchFamily="34" charset="-122"/>
                <a:cs typeface="Arial" pitchFamily="34" charset="-120"/>
              </a:rPr>
              <a:t>→ </a:t>
            </a:r>
            <a:r>
              <a:rPr lang="en-US" sz="1950">
                <a:solidFill>
                  <a:srgbClr val="CBD5E1"/>
                </a:solidFill>
                <a:latin typeface="Arial" pitchFamily="34" charset="0"/>
                <a:ea typeface="Arial" pitchFamily="34" charset="-122"/>
                <a:cs typeface="Arial" pitchFamily="34" charset="-120"/>
              </a:rPr>
              <a:t>localStorage on toggle.</a:t>
            </a:r>
            <a:endParaRPr lang="en-US" sz="1950"/>
          </a:p>
        </p:txBody>
      </p:sp>
      <p:sp>
        <p:nvSpPr>
          <p:cNvPr id="24" name="Shape 22"/>
          <p:cNvSpPr/>
          <p:nvPr/>
        </p:nvSpPr>
        <p:spPr>
          <a:xfrm>
            <a:off x="952500" y="6927453"/>
            <a:ext cx="7962966" cy="1176238"/>
          </a:xfrm>
          <a:prstGeom prst="roundRect">
            <a:avLst>
              <a:gd name="adj" fmla="val 8098"/>
            </a:avLst>
          </a:prstGeom>
          <a:solidFill>
            <a:srgbClr val="111827"/>
          </a:solidFill>
          <a:ln/>
        </p:spPr>
        <p:txBody>
          <a:bodyPr/>
          <a:lstStyle/>
          <a:p>
            <a:endParaRPr lang="en-US"/>
          </a:p>
        </p:txBody>
      </p:sp>
      <p:sp>
        <p:nvSpPr>
          <p:cNvPr id="25" name="Shape 23"/>
          <p:cNvSpPr/>
          <p:nvPr/>
        </p:nvSpPr>
        <p:spPr>
          <a:xfrm>
            <a:off x="952500" y="8093108"/>
            <a:ext cx="7962966" cy="10583"/>
          </a:xfrm>
          <a:prstGeom prst="rect">
            <a:avLst/>
          </a:prstGeom>
          <a:solidFill>
            <a:srgbClr val="1F2937"/>
          </a:solidFill>
          <a:ln/>
        </p:spPr>
        <p:txBody>
          <a:bodyPr/>
          <a:lstStyle/>
          <a:p>
            <a:endParaRPr lang="en-US"/>
          </a:p>
        </p:txBody>
      </p:sp>
      <p:sp>
        <p:nvSpPr>
          <p:cNvPr id="26" name="Shape 24"/>
          <p:cNvSpPr/>
          <p:nvPr/>
        </p:nvSpPr>
        <p:spPr>
          <a:xfrm>
            <a:off x="952500" y="6927453"/>
            <a:ext cx="7962966" cy="10583"/>
          </a:xfrm>
          <a:prstGeom prst="rect">
            <a:avLst/>
          </a:prstGeom>
          <a:solidFill>
            <a:srgbClr val="1F2937"/>
          </a:solidFill>
          <a:ln/>
        </p:spPr>
        <p:txBody>
          <a:bodyPr/>
          <a:lstStyle/>
          <a:p>
            <a:endParaRPr lang="en-US"/>
          </a:p>
        </p:txBody>
      </p:sp>
      <p:sp>
        <p:nvSpPr>
          <p:cNvPr id="27" name="Shape 25"/>
          <p:cNvSpPr/>
          <p:nvPr/>
        </p:nvSpPr>
        <p:spPr>
          <a:xfrm>
            <a:off x="952500" y="6927453"/>
            <a:ext cx="21167" cy="1176238"/>
          </a:xfrm>
          <a:prstGeom prst="rect">
            <a:avLst/>
          </a:prstGeom>
          <a:solidFill>
            <a:srgbClr val="EF4444"/>
          </a:solidFill>
          <a:ln/>
        </p:spPr>
        <p:txBody>
          <a:bodyPr/>
          <a:lstStyle/>
          <a:p>
            <a:endParaRPr lang="en-US"/>
          </a:p>
        </p:txBody>
      </p:sp>
      <p:sp>
        <p:nvSpPr>
          <p:cNvPr id="28" name="Shape 26"/>
          <p:cNvSpPr/>
          <p:nvPr/>
        </p:nvSpPr>
        <p:spPr>
          <a:xfrm>
            <a:off x="8904883" y="6927453"/>
            <a:ext cx="10583" cy="1176238"/>
          </a:xfrm>
          <a:prstGeom prst="rect">
            <a:avLst/>
          </a:prstGeom>
          <a:solidFill>
            <a:srgbClr val="1F2937"/>
          </a:solidFill>
          <a:ln/>
        </p:spPr>
        <p:txBody>
          <a:bodyPr/>
          <a:lstStyle/>
          <a:p>
            <a:endParaRPr lang="en-US"/>
          </a:p>
        </p:txBody>
      </p:sp>
      <p:sp>
        <p:nvSpPr>
          <p:cNvPr id="29" name="Text 27"/>
          <p:cNvSpPr/>
          <p:nvPr/>
        </p:nvSpPr>
        <p:spPr>
          <a:xfrm>
            <a:off x="1240234" y="7166571"/>
            <a:ext cx="7620023" cy="313267"/>
          </a:xfrm>
          <a:prstGeom prst="rect">
            <a:avLst/>
          </a:prstGeom>
          <a:noFill/>
          <a:ln/>
        </p:spPr>
        <p:txBody>
          <a:bodyPr wrap="square" lIns="25400" tIns="25400" rIns="25400" bIns="25400" rtlCol="0" anchor="t">
            <a:normAutofit lnSpcReduction="10000"/>
          </a:bodyPr>
          <a:lstStyle/>
          <a:p>
            <a:pPr marL="0" indent="0" algn="l">
              <a:buNone/>
            </a:pPr>
            <a:r>
              <a:rPr lang="en-US" sz="1800" kern="0" spc="144">
                <a:solidFill>
                  <a:srgbClr val="EF4444"/>
                </a:solidFill>
                <a:latin typeface="Arial" pitchFamily="34" charset="0"/>
                <a:ea typeface="Arial" pitchFamily="34" charset="-122"/>
                <a:cs typeface="Arial" pitchFamily="34" charset="-120"/>
              </a:rPr>
              <a:t>PROBLEM → FIX</a:t>
            </a:r>
            <a:endParaRPr lang="en-US" sz="1800"/>
          </a:p>
        </p:txBody>
      </p:sp>
      <p:sp>
        <p:nvSpPr>
          <p:cNvPr id="30" name="Text 28"/>
          <p:cNvSpPr/>
          <p:nvPr/>
        </p:nvSpPr>
        <p:spPr>
          <a:xfrm>
            <a:off x="1240234" y="7517805"/>
            <a:ext cx="7620023" cy="384870"/>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950">
                <a:solidFill>
                  <a:srgbClr val="CBD5E1"/>
                </a:solidFill>
                <a:latin typeface="Arial" pitchFamily="34" charset="0"/>
                <a:ea typeface="Arial" pitchFamily="34" charset="-122"/>
                <a:cs typeface="Arial" pitchFamily="34" charset="-120"/>
              </a:rPr>
              <a:t>Mobile responsiveness </a:t>
            </a:r>
            <a:r>
              <a:rPr lang="en-US" sz="1950">
                <a:solidFill>
                  <a:srgbClr val="EF4444"/>
                </a:solidFill>
                <a:latin typeface="Arial" pitchFamily="34" charset="0"/>
                <a:ea typeface="Arial" pitchFamily="34" charset="-122"/>
                <a:cs typeface="Arial" pitchFamily="34" charset="-120"/>
              </a:rPr>
              <a:t>→ </a:t>
            </a:r>
            <a:r>
              <a:rPr lang="en-US" sz="1950">
                <a:solidFill>
                  <a:srgbClr val="CBD5E1"/>
                </a:solidFill>
                <a:latin typeface="Arial" pitchFamily="34" charset="0"/>
                <a:ea typeface="Arial" pitchFamily="34" charset="-122"/>
                <a:cs typeface="Arial" pitchFamily="34" charset="-120"/>
              </a:rPr>
              <a:t>breakpoint-driven layout.</a:t>
            </a:r>
            <a:endParaRPr lang="en-US" sz="1950"/>
          </a:p>
        </p:txBody>
      </p:sp>
      <p:sp>
        <p:nvSpPr>
          <p:cNvPr id="31" name="Shape 29"/>
          <p:cNvSpPr/>
          <p:nvPr/>
        </p:nvSpPr>
        <p:spPr>
          <a:xfrm>
            <a:off x="9372534" y="3456451"/>
            <a:ext cx="517095" cy="431602"/>
          </a:xfrm>
          <a:prstGeom prst="roundRect">
            <a:avLst>
              <a:gd name="adj" fmla="val 17655"/>
            </a:avLst>
          </a:prstGeom>
          <a:solidFill>
            <a:srgbClr val="EF4444">
              <a:alpha val="12000"/>
            </a:srgbClr>
          </a:solidFill>
          <a:ln w="10583">
            <a:solidFill>
              <a:srgbClr val="EF4444"/>
            </a:solidFill>
            <a:prstDash val="solid"/>
          </a:ln>
        </p:spPr>
        <p:txBody>
          <a:bodyPr/>
          <a:lstStyle/>
          <a:p>
            <a:endParaRPr lang="en-US"/>
          </a:p>
        </p:txBody>
      </p:sp>
      <p:sp>
        <p:nvSpPr>
          <p:cNvPr id="32" name="Text 30"/>
          <p:cNvSpPr/>
          <p:nvPr/>
        </p:nvSpPr>
        <p:spPr>
          <a:xfrm>
            <a:off x="9497418" y="3524184"/>
            <a:ext cx="343528" cy="334235"/>
          </a:xfrm>
          <a:prstGeom prst="rect">
            <a:avLst/>
          </a:prstGeom>
          <a:noFill/>
          <a:ln/>
        </p:spPr>
        <p:txBody>
          <a:bodyPr wrap="square" lIns="25400" tIns="25400" rIns="25400" bIns="25400" rtlCol="0" anchor="t">
            <a:normAutofit/>
          </a:bodyPr>
          <a:lstStyle/>
          <a:p>
            <a:pPr marL="0" indent="0" algn="l">
              <a:buNone/>
            </a:pPr>
            <a:r>
              <a:rPr lang="en-US" sz="1800" b="1" kern="0" spc="-27">
                <a:solidFill>
                  <a:srgbClr val="EF4444"/>
                </a:solidFill>
                <a:latin typeface="Arial" pitchFamily="34" charset="0"/>
                <a:ea typeface="Arial" pitchFamily="34" charset="-122"/>
                <a:cs typeface="Arial" pitchFamily="34" charset="-120"/>
              </a:rPr>
              <a:t>02</a:t>
            </a:r>
            <a:endParaRPr lang="en-US" sz="1800"/>
          </a:p>
        </p:txBody>
      </p:sp>
      <p:sp>
        <p:nvSpPr>
          <p:cNvPr id="33" name="Text 31"/>
          <p:cNvSpPr/>
          <p:nvPr/>
        </p:nvSpPr>
        <p:spPr>
          <a:xfrm>
            <a:off x="10041930" y="3455293"/>
            <a:ext cx="2496807" cy="472017"/>
          </a:xfrm>
          <a:prstGeom prst="rect">
            <a:avLst/>
          </a:prstGeom>
          <a:noFill/>
          <a:ln/>
        </p:spPr>
        <p:txBody>
          <a:bodyPr wrap="square" lIns="0" tIns="0" rIns="0" bIns="0" rtlCol="0" anchor="t">
            <a:normAutofit/>
          </a:bodyPr>
          <a:lstStyle/>
          <a:p>
            <a:pPr marL="0" indent="0" algn="l">
              <a:buNone/>
            </a:pPr>
            <a:r>
              <a:rPr lang="en-US" sz="2700" b="1" kern="0" spc="-27">
                <a:solidFill>
                  <a:srgbClr val="E5E7EB"/>
                </a:solidFill>
                <a:latin typeface="Arial" pitchFamily="34" charset="0"/>
                <a:ea typeface="Arial" pitchFamily="34" charset="-122"/>
                <a:cs typeface="Arial" pitchFamily="34" charset="-120"/>
              </a:rPr>
              <a:t>What I Learned</a:t>
            </a:r>
            <a:endParaRPr lang="en-US" sz="2700"/>
          </a:p>
        </p:txBody>
      </p:sp>
      <p:sp>
        <p:nvSpPr>
          <p:cNvPr id="34" name="Shape 32"/>
          <p:cNvSpPr/>
          <p:nvPr/>
        </p:nvSpPr>
        <p:spPr>
          <a:xfrm>
            <a:off x="9372534" y="4193977"/>
            <a:ext cx="7962966" cy="1176238"/>
          </a:xfrm>
          <a:prstGeom prst="roundRect">
            <a:avLst>
              <a:gd name="adj" fmla="val 8098"/>
            </a:avLst>
          </a:prstGeom>
          <a:solidFill>
            <a:srgbClr val="111827"/>
          </a:solidFill>
          <a:ln/>
        </p:spPr>
        <p:txBody>
          <a:bodyPr/>
          <a:lstStyle/>
          <a:p>
            <a:endParaRPr lang="en-US"/>
          </a:p>
        </p:txBody>
      </p:sp>
      <p:sp>
        <p:nvSpPr>
          <p:cNvPr id="35" name="Shape 33"/>
          <p:cNvSpPr/>
          <p:nvPr/>
        </p:nvSpPr>
        <p:spPr>
          <a:xfrm>
            <a:off x="9372534" y="5359632"/>
            <a:ext cx="7962966" cy="10583"/>
          </a:xfrm>
          <a:prstGeom prst="rect">
            <a:avLst/>
          </a:prstGeom>
          <a:solidFill>
            <a:srgbClr val="1F2937"/>
          </a:solidFill>
          <a:ln/>
        </p:spPr>
        <p:txBody>
          <a:bodyPr/>
          <a:lstStyle/>
          <a:p>
            <a:endParaRPr lang="en-US"/>
          </a:p>
        </p:txBody>
      </p:sp>
      <p:sp>
        <p:nvSpPr>
          <p:cNvPr id="36" name="Shape 34"/>
          <p:cNvSpPr/>
          <p:nvPr/>
        </p:nvSpPr>
        <p:spPr>
          <a:xfrm>
            <a:off x="9372534" y="4193977"/>
            <a:ext cx="7962966" cy="10583"/>
          </a:xfrm>
          <a:prstGeom prst="rect">
            <a:avLst/>
          </a:prstGeom>
          <a:solidFill>
            <a:srgbClr val="1F2937"/>
          </a:solidFill>
          <a:ln/>
        </p:spPr>
        <p:txBody>
          <a:bodyPr/>
          <a:lstStyle/>
          <a:p>
            <a:endParaRPr lang="en-US"/>
          </a:p>
        </p:txBody>
      </p:sp>
      <p:sp>
        <p:nvSpPr>
          <p:cNvPr id="37" name="Shape 35"/>
          <p:cNvSpPr/>
          <p:nvPr/>
        </p:nvSpPr>
        <p:spPr>
          <a:xfrm>
            <a:off x="9372534" y="4193977"/>
            <a:ext cx="21167" cy="1176238"/>
          </a:xfrm>
          <a:prstGeom prst="rect">
            <a:avLst/>
          </a:prstGeom>
          <a:solidFill>
            <a:srgbClr val="F87171"/>
          </a:solidFill>
          <a:ln/>
        </p:spPr>
        <p:txBody>
          <a:bodyPr/>
          <a:lstStyle/>
          <a:p>
            <a:endParaRPr lang="en-US"/>
          </a:p>
        </p:txBody>
      </p:sp>
      <p:sp>
        <p:nvSpPr>
          <p:cNvPr id="38" name="Shape 36"/>
          <p:cNvSpPr/>
          <p:nvPr/>
        </p:nvSpPr>
        <p:spPr>
          <a:xfrm>
            <a:off x="17324917" y="4193977"/>
            <a:ext cx="10583" cy="1176238"/>
          </a:xfrm>
          <a:prstGeom prst="rect">
            <a:avLst/>
          </a:prstGeom>
          <a:solidFill>
            <a:srgbClr val="1F2937"/>
          </a:solidFill>
          <a:ln/>
        </p:spPr>
        <p:txBody>
          <a:bodyPr/>
          <a:lstStyle/>
          <a:p>
            <a:endParaRPr lang="en-US"/>
          </a:p>
        </p:txBody>
      </p:sp>
      <p:sp>
        <p:nvSpPr>
          <p:cNvPr id="39" name="Text 37"/>
          <p:cNvSpPr/>
          <p:nvPr/>
        </p:nvSpPr>
        <p:spPr>
          <a:xfrm>
            <a:off x="9660268" y="4433094"/>
            <a:ext cx="7620023" cy="313267"/>
          </a:xfrm>
          <a:prstGeom prst="rect">
            <a:avLst/>
          </a:prstGeom>
          <a:noFill/>
          <a:ln/>
        </p:spPr>
        <p:txBody>
          <a:bodyPr wrap="square" lIns="25400" tIns="25400" rIns="25400" bIns="25400" rtlCol="0" anchor="t">
            <a:normAutofit lnSpcReduction="10000"/>
          </a:bodyPr>
          <a:lstStyle/>
          <a:p>
            <a:pPr marL="0" indent="0" algn="l">
              <a:buNone/>
            </a:pPr>
            <a:r>
              <a:rPr lang="en-US" sz="1800" kern="0" spc="144">
                <a:solidFill>
                  <a:srgbClr val="F87171"/>
                </a:solidFill>
                <a:latin typeface="Arial" pitchFamily="34" charset="0"/>
                <a:ea typeface="Arial" pitchFamily="34" charset="-122"/>
                <a:cs typeface="Arial" pitchFamily="34" charset="-120"/>
              </a:rPr>
              <a:t>SKILL</a:t>
            </a:r>
            <a:endParaRPr lang="en-US" sz="1800"/>
          </a:p>
        </p:txBody>
      </p:sp>
      <p:sp>
        <p:nvSpPr>
          <p:cNvPr id="40" name="Text 38"/>
          <p:cNvSpPr/>
          <p:nvPr/>
        </p:nvSpPr>
        <p:spPr>
          <a:xfrm>
            <a:off x="9660268" y="4784328"/>
            <a:ext cx="7620023" cy="384870"/>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950">
                <a:solidFill>
                  <a:srgbClr val="CBD5E1"/>
                </a:solidFill>
                <a:latin typeface="Arial" pitchFamily="34" charset="0"/>
                <a:ea typeface="Arial" pitchFamily="34" charset="-122"/>
                <a:cs typeface="Arial" pitchFamily="34" charset="-120"/>
              </a:rPr>
              <a:t>Async/await patterns for clean API code.</a:t>
            </a:r>
            <a:endParaRPr lang="en-US" sz="1950"/>
          </a:p>
        </p:txBody>
      </p:sp>
      <p:sp>
        <p:nvSpPr>
          <p:cNvPr id="41" name="Shape 39"/>
          <p:cNvSpPr/>
          <p:nvPr/>
        </p:nvSpPr>
        <p:spPr>
          <a:xfrm>
            <a:off x="9372534" y="5560715"/>
            <a:ext cx="7962966" cy="1176238"/>
          </a:xfrm>
          <a:prstGeom prst="roundRect">
            <a:avLst>
              <a:gd name="adj" fmla="val 8098"/>
            </a:avLst>
          </a:prstGeom>
          <a:solidFill>
            <a:srgbClr val="111827"/>
          </a:solidFill>
          <a:ln/>
        </p:spPr>
        <p:txBody>
          <a:bodyPr/>
          <a:lstStyle/>
          <a:p>
            <a:endParaRPr lang="en-US"/>
          </a:p>
        </p:txBody>
      </p:sp>
      <p:sp>
        <p:nvSpPr>
          <p:cNvPr id="42" name="Shape 40"/>
          <p:cNvSpPr/>
          <p:nvPr/>
        </p:nvSpPr>
        <p:spPr>
          <a:xfrm>
            <a:off x="9372534" y="6726370"/>
            <a:ext cx="7962966" cy="10583"/>
          </a:xfrm>
          <a:prstGeom prst="rect">
            <a:avLst/>
          </a:prstGeom>
          <a:solidFill>
            <a:srgbClr val="1F2937"/>
          </a:solidFill>
          <a:ln/>
        </p:spPr>
        <p:txBody>
          <a:bodyPr/>
          <a:lstStyle/>
          <a:p>
            <a:endParaRPr lang="en-US"/>
          </a:p>
        </p:txBody>
      </p:sp>
      <p:sp>
        <p:nvSpPr>
          <p:cNvPr id="43" name="Shape 41"/>
          <p:cNvSpPr/>
          <p:nvPr/>
        </p:nvSpPr>
        <p:spPr>
          <a:xfrm>
            <a:off x="9372534" y="5560715"/>
            <a:ext cx="7962966" cy="10583"/>
          </a:xfrm>
          <a:prstGeom prst="rect">
            <a:avLst/>
          </a:prstGeom>
          <a:solidFill>
            <a:srgbClr val="1F2937"/>
          </a:solidFill>
          <a:ln/>
        </p:spPr>
        <p:txBody>
          <a:bodyPr/>
          <a:lstStyle/>
          <a:p>
            <a:endParaRPr lang="en-US"/>
          </a:p>
        </p:txBody>
      </p:sp>
      <p:sp>
        <p:nvSpPr>
          <p:cNvPr id="44" name="Shape 42"/>
          <p:cNvSpPr/>
          <p:nvPr/>
        </p:nvSpPr>
        <p:spPr>
          <a:xfrm>
            <a:off x="9372534" y="5560715"/>
            <a:ext cx="21167" cy="1176238"/>
          </a:xfrm>
          <a:prstGeom prst="rect">
            <a:avLst/>
          </a:prstGeom>
          <a:solidFill>
            <a:srgbClr val="F87171"/>
          </a:solidFill>
          <a:ln/>
        </p:spPr>
        <p:txBody>
          <a:bodyPr/>
          <a:lstStyle/>
          <a:p>
            <a:endParaRPr lang="en-US"/>
          </a:p>
        </p:txBody>
      </p:sp>
      <p:sp>
        <p:nvSpPr>
          <p:cNvPr id="45" name="Shape 43"/>
          <p:cNvSpPr/>
          <p:nvPr/>
        </p:nvSpPr>
        <p:spPr>
          <a:xfrm>
            <a:off x="17324917" y="5560715"/>
            <a:ext cx="10583" cy="1176238"/>
          </a:xfrm>
          <a:prstGeom prst="rect">
            <a:avLst/>
          </a:prstGeom>
          <a:solidFill>
            <a:srgbClr val="1F2937"/>
          </a:solidFill>
          <a:ln/>
        </p:spPr>
        <p:txBody>
          <a:bodyPr/>
          <a:lstStyle/>
          <a:p>
            <a:endParaRPr lang="en-US"/>
          </a:p>
        </p:txBody>
      </p:sp>
      <p:sp>
        <p:nvSpPr>
          <p:cNvPr id="46" name="Text 44"/>
          <p:cNvSpPr/>
          <p:nvPr/>
        </p:nvSpPr>
        <p:spPr>
          <a:xfrm>
            <a:off x="9660268" y="5799832"/>
            <a:ext cx="7620023" cy="313267"/>
          </a:xfrm>
          <a:prstGeom prst="rect">
            <a:avLst/>
          </a:prstGeom>
          <a:noFill/>
          <a:ln/>
        </p:spPr>
        <p:txBody>
          <a:bodyPr wrap="square" lIns="25400" tIns="25400" rIns="25400" bIns="25400" rtlCol="0" anchor="t">
            <a:normAutofit lnSpcReduction="10000"/>
          </a:bodyPr>
          <a:lstStyle/>
          <a:p>
            <a:pPr marL="0" indent="0" algn="l">
              <a:buNone/>
            </a:pPr>
            <a:r>
              <a:rPr lang="en-US" sz="1800" kern="0" spc="144">
                <a:solidFill>
                  <a:srgbClr val="F87171"/>
                </a:solidFill>
                <a:latin typeface="Arial" pitchFamily="34" charset="0"/>
                <a:ea typeface="Arial" pitchFamily="34" charset="-122"/>
                <a:cs typeface="Arial" pitchFamily="34" charset="-120"/>
              </a:rPr>
              <a:t>SKILL</a:t>
            </a:r>
            <a:endParaRPr lang="en-US" sz="1800"/>
          </a:p>
        </p:txBody>
      </p:sp>
      <p:sp>
        <p:nvSpPr>
          <p:cNvPr id="47" name="Text 45"/>
          <p:cNvSpPr/>
          <p:nvPr/>
        </p:nvSpPr>
        <p:spPr>
          <a:xfrm>
            <a:off x="9660268" y="6151067"/>
            <a:ext cx="7620023" cy="384870"/>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950">
                <a:solidFill>
                  <a:srgbClr val="CBD5E1"/>
                </a:solidFill>
                <a:latin typeface="Arial" pitchFamily="34" charset="0"/>
                <a:ea typeface="Arial" pitchFamily="34" charset="-122"/>
                <a:cs typeface="Arial" pitchFamily="34" charset="-120"/>
              </a:rPr>
              <a:t>State management without a framework.</a:t>
            </a:r>
            <a:endParaRPr lang="en-US" sz="1950"/>
          </a:p>
        </p:txBody>
      </p:sp>
      <p:sp>
        <p:nvSpPr>
          <p:cNvPr id="48" name="Shape 46"/>
          <p:cNvSpPr/>
          <p:nvPr/>
        </p:nvSpPr>
        <p:spPr>
          <a:xfrm>
            <a:off x="9372534" y="6927453"/>
            <a:ext cx="7962966" cy="1176238"/>
          </a:xfrm>
          <a:prstGeom prst="roundRect">
            <a:avLst>
              <a:gd name="adj" fmla="val 8098"/>
            </a:avLst>
          </a:prstGeom>
          <a:solidFill>
            <a:srgbClr val="111827"/>
          </a:solidFill>
          <a:ln/>
        </p:spPr>
        <p:txBody>
          <a:bodyPr/>
          <a:lstStyle/>
          <a:p>
            <a:endParaRPr lang="en-US"/>
          </a:p>
        </p:txBody>
      </p:sp>
      <p:sp>
        <p:nvSpPr>
          <p:cNvPr id="49" name="Shape 47"/>
          <p:cNvSpPr/>
          <p:nvPr/>
        </p:nvSpPr>
        <p:spPr>
          <a:xfrm>
            <a:off x="9372534" y="8093108"/>
            <a:ext cx="7962966" cy="10583"/>
          </a:xfrm>
          <a:prstGeom prst="rect">
            <a:avLst/>
          </a:prstGeom>
          <a:solidFill>
            <a:srgbClr val="1F2937"/>
          </a:solidFill>
          <a:ln/>
        </p:spPr>
        <p:txBody>
          <a:bodyPr/>
          <a:lstStyle/>
          <a:p>
            <a:endParaRPr lang="en-US"/>
          </a:p>
        </p:txBody>
      </p:sp>
      <p:sp>
        <p:nvSpPr>
          <p:cNvPr id="50" name="Shape 48"/>
          <p:cNvSpPr/>
          <p:nvPr/>
        </p:nvSpPr>
        <p:spPr>
          <a:xfrm>
            <a:off x="9372534" y="6927453"/>
            <a:ext cx="7962966" cy="10583"/>
          </a:xfrm>
          <a:prstGeom prst="rect">
            <a:avLst/>
          </a:prstGeom>
          <a:solidFill>
            <a:srgbClr val="1F2937"/>
          </a:solidFill>
          <a:ln/>
        </p:spPr>
        <p:txBody>
          <a:bodyPr/>
          <a:lstStyle/>
          <a:p>
            <a:endParaRPr lang="en-US"/>
          </a:p>
        </p:txBody>
      </p:sp>
      <p:sp>
        <p:nvSpPr>
          <p:cNvPr id="51" name="Shape 49"/>
          <p:cNvSpPr/>
          <p:nvPr/>
        </p:nvSpPr>
        <p:spPr>
          <a:xfrm>
            <a:off x="9372534" y="6927453"/>
            <a:ext cx="21167" cy="1176238"/>
          </a:xfrm>
          <a:prstGeom prst="rect">
            <a:avLst/>
          </a:prstGeom>
          <a:solidFill>
            <a:srgbClr val="F87171"/>
          </a:solidFill>
          <a:ln/>
        </p:spPr>
        <p:txBody>
          <a:bodyPr/>
          <a:lstStyle/>
          <a:p>
            <a:endParaRPr lang="en-US"/>
          </a:p>
        </p:txBody>
      </p:sp>
      <p:sp>
        <p:nvSpPr>
          <p:cNvPr id="52" name="Shape 50"/>
          <p:cNvSpPr/>
          <p:nvPr/>
        </p:nvSpPr>
        <p:spPr>
          <a:xfrm>
            <a:off x="17324917" y="6927453"/>
            <a:ext cx="10583" cy="1176238"/>
          </a:xfrm>
          <a:prstGeom prst="rect">
            <a:avLst/>
          </a:prstGeom>
          <a:solidFill>
            <a:srgbClr val="1F2937"/>
          </a:solidFill>
          <a:ln/>
        </p:spPr>
        <p:txBody>
          <a:bodyPr/>
          <a:lstStyle/>
          <a:p>
            <a:endParaRPr lang="en-US"/>
          </a:p>
        </p:txBody>
      </p:sp>
      <p:sp>
        <p:nvSpPr>
          <p:cNvPr id="53" name="Text 51"/>
          <p:cNvSpPr/>
          <p:nvPr/>
        </p:nvSpPr>
        <p:spPr>
          <a:xfrm>
            <a:off x="9660268" y="7166571"/>
            <a:ext cx="7620023" cy="313267"/>
          </a:xfrm>
          <a:prstGeom prst="rect">
            <a:avLst/>
          </a:prstGeom>
          <a:noFill/>
          <a:ln/>
        </p:spPr>
        <p:txBody>
          <a:bodyPr wrap="square" lIns="25400" tIns="25400" rIns="25400" bIns="25400" rtlCol="0" anchor="t">
            <a:normAutofit lnSpcReduction="10000"/>
          </a:bodyPr>
          <a:lstStyle/>
          <a:p>
            <a:pPr marL="0" indent="0" algn="l">
              <a:buNone/>
            </a:pPr>
            <a:r>
              <a:rPr lang="en-US" sz="1800" kern="0" spc="144">
                <a:solidFill>
                  <a:srgbClr val="F87171"/>
                </a:solidFill>
                <a:latin typeface="Arial" pitchFamily="34" charset="0"/>
                <a:ea typeface="Arial" pitchFamily="34" charset="-122"/>
                <a:cs typeface="Arial" pitchFamily="34" charset="-120"/>
              </a:rPr>
              <a:t>SKILL</a:t>
            </a:r>
            <a:endParaRPr lang="en-US" sz="1800"/>
          </a:p>
        </p:txBody>
      </p:sp>
      <p:sp>
        <p:nvSpPr>
          <p:cNvPr id="54" name="Text 52"/>
          <p:cNvSpPr/>
          <p:nvPr/>
        </p:nvSpPr>
        <p:spPr>
          <a:xfrm>
            <a:off x="9660268" y="7517805"/>
            <a:ext cx="7620023" cy="384870"/>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950">
                <a:solidFill>
                  <a:srgbClr val="CBD5E1"/>
                </a:solidFill>
                <a:latin typeface="Arial" pitchFamily="34" charset="0"/>
                <a:ea typeface="Arial" pitchFamily="34" charset="-122"/>
                <a:cs typeface="Arial" pitchFamily="34" charset="-120"/>
              </a:rPr>
              <a:t>Cross-browser testing &amp; defensive CSS.</a:t>
            </a:r>
            <a:endParaRPr lang="en-US" sz="1950"/>
          </a:p>
        </p:txBody>
      </p:sp>
      <p:sp>
        <p:nvSpPr>
          <p:cNvPr id="55" name="Text 53"/>
          <p:cNvSpPr/>
          <p:nvPr/>
        </p:nvSpPr>
        <p:spPr>
          <a:xfrm>
            <a:off x="952500" y="9554766"/>
            <a:ext cx="3772881" cy="313267"/>
          </a:xfrm>
          <a:prstGeom prst="rect">
            <a:avLst/>
          </a:prstGeom>
          <a:noFill/>
          <a:ln/>
        </p:spPr>
        <p:txBody>
          <a:bodyPr wrap="square" lIns="25400" tIns="25400" rIns="25400" bIns="25400" rtlCol="0" anchor="t">
            <a:normAutofit lnSpcReduction="10000"/>
          </a:bodyPr>
          <a:lstStyle/>
          <a:p>
            <a:pPr marL="0" indent="0" algn="l">
              <a:buNone/>
            </a:pPr>
            <a:r>
              <a:rPr lang="en-US" sz="1800" kern="0" spc="144">
                <a:solidFill>
                  <a:srgbClr val="EF4444"/>
                </a:solidFill>
                <a:latin typeface="Arial" pitchFamily="34" charset="0"/>
                <a:ea typeface="Arial" pitchFamily="34" charset="-122"/>
                <a:cs typeface="Arial" pitchFamily="34" charset="-120"/>
              </a:rPr>
              <a:t>● </a:t>
            </a:r>
            <a:r>
              <a:rPr lang="en-US" sz="1800" kern="0" spc="144">
                <a:solidFill>
                  <a:srgbClr val="64748B"/>
                </a:solidFill>
                <a:latin typeface="Arial" pitchFamily="34" charset="0"/>
                <a:ea typeface="Arial" pitchFamily="34" charset="-122"/>
                <a:cs typeface="Arial" pitchFamily="34" charset="-120"/>
              </a:rPr>
              <a:t>CHALLENGES &amp; LESSONS</a:t>
            </a:r>
            <a:endParaRPr lang="en-US" sz="1800"/>
          </a:p>
        </p:txBody>
      </p:sp>
      <p:sp>
        <p:nvSpPr>
          <p:cNvPr id="56" name="Text 54"/>
          <p:cNvSpPr/>
          <p:nvPr/>
        </p:nvSpPr>
        <p:spPr>
          <a:xfrm>
            <a:off x="16508678" y="9554766"/>
            <a:ext cx="903023" cy="313267"/>
          </a:xfrm>
          <a:prstGeom prst="rect">
            <a:avLst/>
          </a:prstGeom>
          <a:noFill/>
          <a:ln/>
        </p:spPr>
        <p:txBody>
          <a:bodyPr wrap="square" lIns="25400" tIns="25400" rIns="25400" bIns="25400" rtlCol="0" anchor="t">
            <a:normAutofit lnSpcReduction="10000"/>
          </a:bodyPr>
          <a:lstStyle/>
          <a:p>
            <a:pPr marL="0" indent="0" algn="l">
              <a:buNone/>
            </a:pPr>
            <a:r>
              <a:rPr lang="en-US" sz="1800" kern="0" spc="144">
                <a:solidFill>
                  <a:srgbClr val="64748B"/>
                </a:solidFill>
                <a:latin typeface="Arial" pitchFamily="34" charset="0"/>
                <a:ea typeface="Arial" pitchFamily="34" charset="-122"/>
                <a:cs typeface="Arial" pitchFamily="34" charset="-120"/>
              </a:rPr>
              <a:t>05 / 06</a:t>
            </a:r>
            <a:endParaRPr lang="en-US" sz="18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0E1A"/>
        </a:solidFill>
        <a:effectLst/>
      </p:bgPr>
    </p:bg>
    <p:spTree>
      <p:nvGrpSpPr>
        <p:cNvPr id="1" name=""/>
        <p:cNvGrpSpPr/>
        <p:nvPr/>
      </p:nvGrpSpPr>
      <p:grpSpPr>
        <a:xfrm>
          <a:off x="0" y="0"/>
          <a:ext cx="0" cy="0"/>
          <a:chOff x="0" y="0"/>
          <a:chExt cx="0" cy="0"/>
        </a:xfrm>
      </p:grpSpPr>
      <p:sp>
        <p:nvSpPr>
          <p:cNvPr id="2" name="Shape 0"/>
          <p:cNvSpPr/>
          <p:nvPr/>
        </p:nvSpPr>
        <p:spPr>
          <a:xfrm>
            <a:off x="457068" y="457068"/>
            <a:ext cx="696350" cy="10583"/>
          </a:xfrm>
          <a:prstGeom prst="rect">
            <a:avLst/>
          </a:prstGeom>
          <a:solidFill>
            <a:srgbClr val="EF4444"/>
          </a:solidFill>
          <a:ln/>
        </p:spPr>
        <p:txBody>
          <a:bodyPr/>
          <a:lstStyle/>
          <a:p>
            <a:endParaRPr lang="en-US"/>
          </a:p>
        </p:txBody>
      </p:sp>
      <p:sp>
        <p:nvSpPr>
          <p:cNvPr id="3" name="Shape 1"/>
          <p:cNvSpPr/>
          <p:nvPr/>
        </p:nvSpPr>
        <p:spPr>
          <a:xfrm>
            <a:off x="457068" y="457068"/>
            <a:ext cx="10583" cy="696350"/>
          </a:xfrm>
          <a:prstGeom prst="rect">
            <a:avLst/>
          </a:prstGeom>
          <a:solidFill>
            <a:srgbClr val="EF4444"/>
          </a:solidFill>
          <a:ln/>
        </p:spPr>
        <p:txBody>
          <a:bodyPr/>
          <a:lstStyle/>
          <a:p>
            <a:endParaRPr lang="en-US"/>
          </a:p>
        </p:txBody>
      </p:sp>
      <p:sp>
        <p:nvSpPr>
          <p:cNvPr id="4" name="Shape 2"/>
          <p:cNvSpPr/>
          <p:nvPr/>
        </p:nvSpPr>
        <p:spPr>
          <a:xfrm>
            <a:off x="17134583" y="9819350"/>
            <a:ext cx="696350" cy="10583"/>
          </a:xfrm>
          <a:prstGeom prst="rect">
            <a:avLst/>
          </a:prstGeom>
          <a:solidFill>
            <a:srgbClr val="EF4444"/>
          </a:solidFill>
          <a:ln/>
        </p:spPr>
        <p:txBody>
          <a:bodyPr/>
          <a:lstStyle/>
          <a:p>
            <a:endParaRPr lang="en-US"/>
          </a:p>
        </p:txBody>
      </p:sp>
      <p:sp>
        <p:nvSpPr>
          <p:cNvPr id="5" name="Shape 3"/>
          <p:cNvSpPr/>
          <p:nvPr/>
        </p:nvSpPr>
        <p:spPr>
          <a:xfrm>
            <a:off x="17820350" y="9133583"/>
            <a:ext cx="10583" cy="696350"/>
          </a:xfrm>
          <a:prstGeom prst="rect">
            <a:avLst/>
          </a:prstGeom>
          <a:solidFill>
            <a:srgbClr val="EF4444"/>
          </a:solidFill>
          <a:ln/>
        </p:spPr>
        <p:txBody>
          <a:bodyPr/>
          <a:lstStyle/>
          <a:p>
            <a:endParaRPr lang="en-US"/>
          </a:p>
        </p:txBody>
      </p:sp>
      <p:sp>
        <p:nvSpPr>
          <p:cNvPr id="6" name="Text 4"/>
          <p:cNvSpPr/>
          <p:nvPr/>
        </p:nvSpPr>
        <p:spPr>
          <a:xfrm>
            <a:off x="952500" y="952500"/>
            <a:ext cx="16874491" cy="334433"/>
          </a:xfrm>
          <a:prstGeom prst="rect">
            <a:avLst/>
          </a:prstGeom>
          <a:noFill/>
          <a:ln/>
        </p:spPr>
        <p:txBody>
          <a:bodyPr wrap="square" lIns="25400" tIns="25400" rIns="25400" bIns="25400" rtlCol="0" anchor="ctr">
            <a:normAutofit/>
          </a:bodyPr>
          <a:lstStyle/>
          <a:p>
            <a:pPr marL="0" indent="0" algn="l">
              <a:buNone/>
            </a:pPr>
            <a:r>
              <a:rPr lang="en-US" sz="1800" kern="0" spc="324">
                <a:solidFill>
                  <a:srgbClr val="EF4444"/>
                </a:solidFill>
                <a:latin typeface="Arial" pitchFamily="34" charset="0"/>
                <a:ea typeface="Arial" pitchFamily="34" charset="-122"/>
                <a:cs typeface="Arial" pitchFamily="34" charset="-120"/>
              </a:rPr>
              <a:t>05 / WRAP-UP</a:t>
            </a:r>
            <a:endParaRPr lang="en-US" sz="1800"/>
          </a:p>
        </p:txBody>
      </p:sp>
      <p:sp>
        <p:nvSpPr>
          <p:cNvPr id="7" name="Text 5"/>
          <p:cNvSpPr/>
          <p:nvPr/>
        </p:nvSpPr>
        <p:spPr>
          <a:xfrm>
            <a:off x="952500" y="1439333"/>
            <a:ext cx="16874491" cy="708488"/>
          </a:xfrm>
          <a:prstGeom prst="rect">
            <a:avLst/>
          </a:prstGeom>
          <a:noFill/>
          <a:ln/>
        </p:spPr>
        <p:txBody>
          <a:bodyPr wrap="square" lIns="25400" tIns="25400" rIns="25400" bIns="25400" rtlCol="0" anchor="t">
            <a:normAutofit fontScale="92500" lnSpcReduction="20000"/>
          </a:bodyPr>
          <a:lstStyle/>
          <a:p>
            <a:pPr marL="0" indent="0" algn="l">
              <a:lnSpc>
                <a:spcPct val="110000"/>
              </a:lnSpc>
              <a:buNone/>
            </a:pPr>
            <a:r>
              <a:rPr lang="en-US" sz="4800" b="1" kern="0" spc="-96">
                <a:solidFill>
                  <a:srgbClr val="E5E7EB"/>
                </a:solidFill>
                <a:latin typeface="Arial" pitchFamily="34" charset="0"/>
                <a:ea typeface="Arial" pitchFamily="34" charset="-122"/>
                <a:cs typeface="Arial" pitchFamily="34" charset="-120"/>
              </a:rPr>
              <a:t>Conclusion &amp; Future Work</a:t>
            </a:r>
            <a:endParaRPr lang="en-US" sz="4800"/>
          </a:p>
        </p:txBody>
      </p:sp>
      <p:sp>
        <p:nvSpPr>
          <p:cNvPr id="8" name="Text 6"/>
          <p:cNvSpPr/>
          <p:nvPr/>
        </p:nvSpPr>
        <p:spPr>
          <a:xfrm>
            <a:off x="952500" y="2528755"/>
            <a:ext cx="11772900" cy="977040"/>
          </a:xfrm>
          <a:prstGeom prst="rect">
            <a:avLst/>
          </a:prstGeom>
          <a:noFill/>
          <a:ln/>
        </p:spPr>
        <p:txBody>
          <a:bodyPr wrap="square" lIns="25400" tIns="25400" rIns="25400" bIns="25400" rtlCol="0" anchor="t">
            <a:normAutofit fontScale="92500"/>
          </a:bodyPr>
          <a:lstStyle/>
          <a:p>
            <a:pPr marL="0" indent="0" algn="l">
              <a:lnSpc>
                <a:spcPct val="145000"/>
              </a:lnSpc>
              <a:buNone/>
            </a:pPr>
            <a:r>
              <a:rPr lang="en-US" sz="2550">
                <a:solidFill>
                  <a:srgbClr val="CBD5E1"/>
                </a:solidFill>
                <a:latin typeface="Arial" pitchFamily="34" charset="0"/>
                <a:ea typeface="Arial" pitchFamily="34" charset="-122"/>
                <a:cs typeface="Arial" pitchFamily="34" charset="-120"/>
              </a:rPr>
              <a:t>A complete, professional portfolio, ready for recruiters today, with a clear path forward.</a:t>
            </a:r>
            <a:endParaRPr lang="en-US" sz="2550"/>
          </a:p>
        </p:txBody>
      </p:sp>
      <p:sp>
        <p:nvSpPr>
          <p:cNvPr id="9" name="Text 7"/>
          <p:cNvSpPr/>
          <p:nvPr/>
        </p:nvSpPr>
        <p:spPr>
          <a:xfrm>
            <a:off x="952500" y="4848821"/>
            <a:ext cx="8935618" cy="334433"/>
          </a:xfrm>
          <a:prstGeom prst="rect">
            <a:avLst/>
          </a:prstGeom>
          <a:noFill/>
          <a:ln/>
        </p:spPr>
        <p:txBody>
          <a:bodyPr wrap="square" lIns="25400" tIns="25400" rIns="25400" bIns="25400" rtlCol="0" anchor="t">
            <a:normAutofit/>
          </a:bodyPr>
          <a:lstStyle/>
          <a:p>
            <a:pPr marL="0" indent="0" algn="l">
              <a:buNone/>
            </a:pPr>
            <a:r>
              <a:rPr lang="en-US" sz="1800" kern="0" spc="216">
                <a:solidFill>
                  <a:srgbClr val="EF4444"/>
                </a:solidFill>
                <a:latin typeface="Arial" pitchFamily="34" charset="0"/>
                <a:ea typeface="Arial" pitchFamily="34" charset="-122"/>
                <a:cs typeface="Arial" pitchFamily="34" charset="-120"/>
              </a:rPr>
              <a:t>// STATUS</a:t>
            </a:r>
            <a:endParaRPr lang="en-US" sz="1800"/>
          </a:p>
        </p:txBody>
      </p:sp>
      <p:sp>
        <p:nvSpPr>
          <p:cNvPr id="10" name="Text 8"/>
          <p:cNvSpPr/>
          <p:nvPr/>
        </p:nvSpPr>
        <p:spPr>
          <a:xfrm>
            <a:off x="952500" y="5297455"/>
            <a:ext cx="8935618" cy="1264775"/>
          </a:xfrm>
          <a:prstGeom prst="rect">
            <a:avLst/>
          </a:prstGeom>
          <a:noFill/>
          <a:ln/>
        </p:spPr>
        <p:txBody>
          <a:bodyPr wrap="square" lIns="25400" tIns="25400" rIns="25400" bIns="25400" rtlCol="0" anchor="t">
            <a:normAutofit fontScale="92500" lnSpcReduction="20000"/>
          </a:bodyPr>
          <a:lstStyle/>
          <a:p>
            <a:pPr marL="0" indent="0" algn="l">
              <a:lnSpc>
                <a:spcPct val="115000"/>
              </a:lnSpc>
              <a:buNone/>
            </a:pPr>
            <a:r>
              <a:rPr lang="en-US" sz="4200" b="1" kern="0" spc="-84">
                <a:solidFill>
                  <a:srgbClr val="E5E7EB"/>
                </a:solidFill>
                <a:latin typeface="Arial" pitchFamily="34" charset="0"/>
                <a:ea typeface="Arial" pitchFamily="34" charset="-122"/>
                <a:cs typeface="Arial" pitchFamily="34" charset="-120"/>
              </a:rPr>
              <a:t>Complete, professional portfolio —</a:t>
            </a:r>
            <a:r>
              <a:rPr lang="en-US" sz="4200" b="1" kern="0" spc="-84">
                <a:solidFill>
                  <a:schemeClr val="bg1">
                    <a:lumMod val="95000"/>
                  </a:schemeClr>
                </a:solidFill>
                <a:latin typeface="Arial" pitchFamily="34" charset="0"/>
                <a:ea typeface="Arial" pitchFamily="34" charset="-122"/>
                <a:cs typeface="Arial" pitchFamily="34" charset="-120"/>
              </a:rPr>
              <a:t> live and shareable.</a:t>
            </a:r>
            <a:endParaRPr lang="en-US" sz="4200">
              <a:solidFill>
                <a:schemeClr val="bg1">
                  <a:lumMod val="95000"/>
                </a:schemeClr>
              </a:solidFill>
            </a:endParaRPr>
          </a:p>
        </p:txBody>
      </p:sp>
      <p:sp>
        <p:nvSpPr>
          <p:cNvPr id="11" name="Text 9"/>
          <p:cNvSpPr/>
          <p:nvPr/>
        </p:nvSpPr>
        <p:spPr>
          <a:xfrm>
            <a:off x="952500" y="7057430"/>
            <a:ext cx="8935618" cy="334433"/>
          </a:xfrm>
          <a:prstGeom prst="rect">
            <a:avLst/>
          </a:prstGeom>
          <a:noFill/>
          <a:ln/>
        </p:spPr>
        <p:txBody>
          <a:bodyPr wrap="square" lIns="25400" tIns="25400" rIns="25400" bIns="25400" rtlCol="0" anchor="t">
            <a:normAutofit/>
          </a:bodyPr>
          <a:lstStyle/>
          <a:p>
            <a:pPr marL="0" indent="0" algn="l">
              <a:buNone/>
            </a:pPr>
            <a:r>
              <a:rPr lang="en-US" sz="1800" kern="0" spc="216">
                <a:solidFill>
                  <a:srgbClr val="EF4444"/>
                </a:solidFill>
                <a:latin typeface="Arial" pitchFamily="34" charset="0"/>
                <a:ea typeface="Arial" pitchFamily="34" charset="-122"/>
                <a:cs typeface="Arial" pitchFamily="34" charset="-120"/>
              </a:rPr>
              <a:t>// FUTURE WORK</a:t>
            </a:r>
            <a:endParaRPr lang="en-US" sz="1800"/>
          </a:p>
        </p:txBody>
      </p:sp>
      <p:sp>
        <p:nvSpPr>
          <p:cNvPr id="12" name="Shape 10"/>
          <p:cNvSpPr/>
          <p:nvPr/>
        </p:nvSpPr>
        <p:spPr>
          <a:xfrm>
            <a:off x="952500" y="7753780"/>
            <a:ext cx="95250" cy="95250"/>
          </a:xfrm>
          <a:prstGeom prst="ellipse">
            <a:avLst/>
          </a:prstGeom>
          <a:solidFill>
            <a:srgbClr val="EF4444"/>
          </a:solidFill>
          <a:ln/>
          <a:effectLst>
            <a:outerShdw blurRad="114300" dist="50800" dir="16200000" algn="bl" rotWithShape="0">
              <a:srgbClr val="EF4444">
                <a:alpha val="40000"/>
              </a:srgbClr>
            </a:outerShdw>
          </a:effectLst>
        </p:spPr>
        <p:txBody>
          <a:bodyPr/>
          <a:lstStyle/>
          <a:p>
            <a:endParaRPr lang="en-US"/>
          </a:p>
        </p:txBody>
      </p:sp>
      <p:sp>
        <p:nvSpPr>
          <p:cNvPr id="13" name="Text 11"/>
          <p:cNvSpPr/>
          <p:nvPr/>
        </p:nvSpPr>
        <p:spPr>
          <a:xfrm>
            <a:off x="1219068" y="7658530"/>
            <a:ext cx="2581474" cy="313267"/>
          </a:xfrm>
          <a:prstGeom prst="rect">
            <a:avLst/>
          </a:prstGeom>
          <a:noFill/>
          <a:ln/>
        </p:spPr>
        <p:txBody>
          <a:bodyPr wrap="square" lIns="0" tIns="0" rIns="0" bIns="0" rtlCol="0" anchor="t">
            <a:normAutofit/>
          </a:bodyPr>
          <a:lstStyle/>
          <a:p>
            <a:pPr marL="0" indent="0" algn="l">
              <a:buNone/>
            </a:pPr>
            <a:r>
              <a:rPr lang="en-US" sz="1950">
                <a:solidFill>
                  <a:srgbClr val="CBD5E1"/>
                </a:solidFill>
                <a:latin typeface="Arial" pitchFamily="34" charset="0"/>
                <a:ea typeface="Arial" pitchFamily="34" charset="-122"/>
                <a:cs typeface="Arial" pitchFamily="34" charset="-120"/>
              </a:rPr>
              <a:t>Blog with MDX content</a:t>
            </a:r>
            <a:endParaRPr lang="en-US" sz="1950"/>
          </a:p>
        </p:txBody>
      </p:sp>
      <p:sp>
        <p:nvSpPr>
          <p:cNvPr id="14" name="Shape 12"/>
          <p:cNvSpPr/>
          <p:nvPr/>
        </p:nvSpPr>
        <p:spPr>
          <a:xfrm>
            <a:off x="952500" y="8210848"/>
            <a:ext cx="95250" cy="95250"/>
          </a:xfrm>
          <a:prstGeom prst="ellipse">
            <a:avLst/>
          </a:prstGeom>
          <a:solidFill>
            <a:srgbClr val="EF4444"/>
          </a:solidFill>
          <a:ln/>
          <a:effectLst>
            <a:outerShdw blurRad="114300" dist="50800" dir="16200000" algn="bl" rotWithShape="0">
              <a:srgbClr val="EF4444">
                <a:alpha val="40000"/>
              </a:srgbClr>
            </a:outerShdw>
          </a:effectLst>
        </p:spPr>
        <p:txBody>
          <a:bodyPr/>
          <a:lstStyle/>
          <a:p>
            <a:endParaRPr lang="en-US"/>
          </a:p>
        </p:txBody>
      </p:sp>
      <p:sp>
        <p:nvSpPr>
          <p:cNvPr id="15" name="Text 13"/>
          <p:cNvSpPr/>
          <p:nvPr/>
        </p:nvSpPr>
        <p:spPr>
          <a:xfrm>
            <a:off x="1219068" y="8115598"/>
            <a:ext cx="4083214" cy="313266"/>
          </a:xfrm>
          <a:prstGeom prst="rect">
            <a:avLst/>
          </a:prstGeom>
          <a:noFill/>
          <a:ln/>
        </p:spPr>
        <p:txBody>
          <a:bodyPr wrap="square" lIns="0" tIns="0" rIns="0" bIns="0" rtlCol="0" anchor="t">
            <a:normAutofit/>
          </a:bodyPr>
          <a:lstStyle/>
          <a:p>
            <a:pPr marL="0" indent="0" algn="l">
              <a:buNone/>
            </a:pPr>
            <a:r>
              <a:rPr lang="en-US" sz="1950">
                <a:solidFill>
                  <a:srgbClr val="CBD5E1"/>
                </a:solidFill>
                <a:latin typeface="Arial" pitchFamily="34" charset="0"/>
                <a:ea typeface="Arial" pitchFamily="34" charset="-122"/>
                <a:cs typeface="Arial" pitchFamily="34" charset="-120"/>
              </a:rPr>
              <a:t>Real email backend for contact form</a:t>
            </a:r>
            <a:endParaRPr lang="en-US" sz="1950"/>
          </a:p>
        </p:txBody>
      </p:sp>
      <p:sp>
        <p:nvSpPr>
          <p:cNvPr id="16" name="Shape 14"/>
          <p:cNvSpPr/>
          <p:nvPr/>
        </p:nvSpPr>
        <p:spPr>
          <a:xfrm>
            <a:off x="952500" y="8667916"/>
            <a:ext cx="95250" cy="95250"/>
          </a:xfrm>
          <a:prstGeom prst="ellipse">
            <a:avLst/>
          </a:prstGeom>
          <a:solidFill>
            <a:srgbClr val="EF4444"/>
          </a:solidFill>
          <a:ln/>
          <a:effectLst>
            <a:outerShdw blurRad="114300" dist="50800" dir="16200000" algn="bl" rotWithShape="0">
              <a:srgbClr val="EF4444">
                <a:alpha val="40000"/>
              </a:srgbClr>
            </a:outerShdw>
          </a:effectLst>
        </p:spPr>
        <p:txBody>
          <a:bodyPr/>
          <a:lstStyle/>
          <a:p>
            <a:endParaRPr lang="en-US"/>
          </a:p>
        </p:txBody>
      </p:sp>
      <p:sp>
        <p:nvSpPr>
          <p:cNvPr id="17" name="Text 15"/>
          <p:cNvSpPr/>
          <p:nvPr/>
        </p:nvSpPr>
        <p:spPr>
          <a:xfrm>
            <a:off x="1219068" y="8572666"/>
            <a:ext cx="4565065" cy="313267"/>
          </a:xfrm>
          <a:prstGeom prst="rect">
            <a:avLst/>
          </a:prstGeom>
          <a:noFill/>
          <a:ln/>
        </p:spPr>
        <p:txBody>
          <a:bodyPr wrap="square" lIns="0" tIns="0" rIns="0" bIns="0" rtlCol="0" anchor="t">
            <a:normAutofit/>
          </a:bodyPr>
          <a:lstStyle/>
          <a:p>
            <a:pPr marL="0" indent="0" algn="l">
              <a:buNone/>
            </a:pPr>
            <a:r>
              <a:rPr lang="en-US" sz="1950">
                <a:solidFill>
                  <a:srgbClr val="CBD5E1"/>
                </a:solidFill>
                <a:latin typeface="Arial" pitchFamily="34" charset="0"/>
                <a:ea typeface="Arial" pitchFamily="34" charset="-122"/>
                <a:cs typeface="Arial" pitchFamily="34" charset="-120"/>
              </a:rPr>
              <a:t>Accessibility audit &amp; ARIA improvements</a:t>
            </a:r>
            <a:endParaRPr lang="en-US" sz="1950"/>
          </a:p>
        </p:txBody>
      </p:sp>
      <p:sp>
        <p:nvSpPr>
          <p:cNvPr id="18" name="Shape 16"/>
          <p:cNvSpPr/>
          <p:nvPr/>
        </p:nvSpPr>
        <p:spPr>
          <a:xfrm>
            <a:off x="10237391" y="3924763"/>
            <a:ext cx="7098110" cy="1904173"/>
          </a:xfrm>
          <a:prstGeom prst="roundRect">
            <a:avLst>
              <a:gd name="adj" fmla="val 8003"/>
            </a:avLst>
          </a:prstGeom>
          <a:solidFill>
            <a:srgbClr val="EF4444">
              <a:alpha val="10000"/>
            </a:srgbClr>
          </a:solidFill>
          <a:ln w="10583">
            <a:solidFill>
              <a:srgbClr val="EF4444">
                <a:alpha val="32000"/>
              </a:srgbClr>
            </a:solidFill>
            <a:prstDash val="solid"/>
          </a:ln>
        </p:spPr>
        <p:txBody>
          <a:bodyPr/>
          <a:lstStyle/>
          <a:p>
            <a:endParaRPr lang="en-US"/>
          </a:p>
        </p:txBody>
      </p:sp>
      <p:sp>
        <p:nvSpPr>
          <p:cNvPr id="19" name="Text 17"/>
          <p:cNvSpPr/>
          <p:nvPr/>
        </p:nvSpPr>
        <p:spPr>
          <a:xfrm>
            <a:off x="10628974" y="4316346"/>
            <a:ext cx="6504391" cy="313267"/>
          </a:xfrm>
          <a:prstGeom prst="rect">
            <a:avLst/>
          </a:prstGeom>
          <a:noFill/>
          <a:ln/>
        </p:spPr>
        <p:txBody>
          <a:bodyPr wrap="square" lIns="25400" tIns="25400" rIns="25400" bIns="25400" rtlCol="0" anchor="t">
            <a:normAutofit lnSpcReduction="10000"/>
          </a:bodyPr>
          <a:lstStyle/>
          <a:p>
            <a:pPr marL="0" indent="0" algn="l">
              <a:buNone/>
            </a:pPr>
            <a:r>
              <a:rPr lang="en-US" sz="1800" kern="0" spc="216">
                <a:solidFill>
                  <a:srgbClr val="EF4444"/>
                </a:solidFill>
                <a:latin typeface="Arial" pitchFamily="34" charset="0"/>
                <a:ea typeface="Arial" pitchFamily="34" charset="-122"/>
                <a:cs typeface="Arial" pitchFamily="34" charset="-120"/>
              </a:rPr>
              <a:t>▸ LIVE URL</a:t>
            </a:r>
            <a:endParaRPr lang="en-US" sz="1800"/>
          </a:p>
        </p:txBody>
      </p:sp>
      <p:sp>
        <p:nvSpPr>
          <p:cNvPr id="20" name="Text 18"/>
          <p:cNvSpPr/>
          <p:nvPr/>
        </p:nvSpPr>
        <p:spPr>
          <a:xfrm>
            <a:off x="10628974" y="4743814"/>
            <a:ext cx="6504391" cy="731639"/>
          </a:xfrm>
          <a:prstGeom prst="rect">
            <a:avLst/>
          </a:prstGeom>
          <a:noFill/>
          <a:ln/>
        </p:spPr>
        <p:txBody>
          <a:bodyPr wrap="square" lIns="25400" tIns="25400" rIns="25400" bIns="25400" rtlCol="0" anchor="t">
            <a:normAutofit/>
          </a:bodyPr>
          <a:lstStyle/>
          <a:p>
            <a:pPr marL="0" indent="0" algn="l">
              <a:lnSpc>
                <a:spcPct val="140000"/>
              </a:lnSpc>
              <a:buNone/>
            </a:pPr>
            <a:r>
              <a:rPr lang="en-US" sz="1950">
                <a:solidFill>
                  <a:srgbClr val="E5E7EB"/>
                </a:solidFill>
                <a:latin typeface="Arial" pitchFamily="34" charset="0"/>
                <a:ea typeface="Arial" pitchFamily="34" charset="-122"/>
                <a:cs typeface="Arial" pitchFamily="34" charset="-120"/>
              </a:rPr>
              <a:t>abdullah-baleid-portfolio .vercel.app</a:t>
            </a:r>
            <a:endParaRPr lang="en-US" sz="1950"/>
          </a:p>
        </p:txBody>
      </p:sp>
      <p:sp>
        <p:nvSpPr>
          <p:cNvPr id="28" name="Text 25"/>
          <p:cNvSpPr/>
          <p:nvPr/>
        </p:nvSpPr>
        <p:spPr>
          <a:xfrm>
            <a:off x="952500" y="9554766"/>
            <a:ext cx="4136015" cy="313267"/>
          </a:xfrm>
          <a:prstGeom prst="rect">
            <a:avLst/>
          </a:prstGeom>
          <a:noFill/>
          <a:ln/>
        </p:spPr>
        <p:txBody>
          <a:bodyPr wrap="square" lIns="25400" tIns="25400" rIns="25400" bIns="25400" rtlCol="0" anchor="t">
            <a:normAutofit lnSpcReduction="10000"/>
          </a:bodyPr>
          <a:lstStyle/>
          <a:p>
            <a:pPr marL="0" indent="0" algn="l">
              <a:buNone/>
            </a:pPr>
            <a:r>
              <a:rPr lang="en-US" sz="1800" kern="0" spc="144">
                <a:solidFill>
                  <a:srgbClr val="EF4444"/>
                </a:solidFill>
                <a:latin typeface="Arial" pitchFamily="34" charset="0"/>
                <a:ea typeface="Arial" pitchFamily="34" charset="-122"/>
                <a:cs typeface="Arial" pitchFamily="34" charset="-120"/>
              </a:rPr>
              <a:t>● </a:t>
            </a:r>
            <a:r>
              <a:rPr lang="en-US" sz="1800" kern="0" spc="144">
                <a:solidFill>
                  <a:srgbClr val="64748B"/>
                </a:solidFill>
                <a:latin typeface="Arial" pitchFamily="34" charset="0"/>
                <a:ea typeface="Arial" pitchFamily="34" charset="-122"/>
                <a:cs typeface="Arial" pitchFamily="34" charset="-120"/>
              </a:rPr>
              <a:t>ABDULLAH BALEID · SWE363</a:t>
            </a:r>
            <a:endParaRPr lang="en-US" sz="1800"/>
          </a:p>
        </p:txBody>
      </p:sp>
      <p:sp>
        <p:nvSpPr>
          <p:cNvPr id="29" name="Text 26"/>
          <p:cNvSpPr/>
          <p:nvPr/>
        </p:nvSpPr>
        <p:spPr>
          <a:xfrm>
            <a:off x="16508678" y="9554766"/>
            <a:ext cx="903023" cy="313267"/>
          </a:xfrm>
          <a:prstGeom prst="rect">
            <a:avLst/>
          </a:prstGeom>
          <a:noFill/>
          <a:ln/>
        </p:spPr>
        <p:txBody>
          <a:bodyPr wrap="square" lIns="25400" tIns="25400" rIns="25400" bIns="25400" rtlCol="0" anchor="t">
            <a:normAutofit lnSpcReduction="10000"/>
          </a:bodyPr>
          <a:lstStyle/>
          <a:p>
            <a:pPr marL="0" indent="0" algn="l">
              <a:buNone/>
            </a:pPr>
            <a:r>
              <a:rPr lang="en-US" sz="1800" kern="0" spc="144">
                <a:solidFill>
                  <a:srgbClr val="64748B"/>
                </a:solidFill>
                <a:latin typeface="Arial" pitchFamily="34" charset="0"/>
                <a:ea typeface="Arial" pitchFamily="34" charset="-122"/>
                <a:cs typeface="Arial" pitchFamily="34" charset="-120"/>
              </a:rPr>
              <a:t>06 / 06</a:t>
            </a:r>
            <a:endParaRPr lang="en-US" sz="180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58</TotalTime>
  <Words>787</Words>
  <Application>Microsoft Office PowerPoint</Application>
  <PresentationFormat>Custom</PresentationFormat>
  <Paragraphs>130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thmanyah serif display</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Abdullah Baleid</cp:lastModifiedBy>
  <cp:revision>2</cp:revision>
  <dcterms:created xsi:type="dcterms:W3CDTF">2026-04-25T12:44:24Z</dcterms:created>
  <dcterms:modified xsi:type="dcterms:W3CDTF">2026-04-25T13:43:01Z</dcterms:modified>
</cp:coreProperties>
</file>